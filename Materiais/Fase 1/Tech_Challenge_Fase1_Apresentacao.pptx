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 — CAPA (≈ 30 segundos)</a:t>
            </a:r>
          </a:p>
          <a:p/>
          <a:p>
            <a:r>
              <a:t>Olá! Meu nome é Matheus Tomaz. Neste vídeo apresento o Tech Challenge da Fase 1 do curso de IA para Devs da FIAP POSTECH.</a:t>
            </a:r>
          </a:p>
          <a:p/>
          <a:p>
            <a:r>
              <a:t>O projeto desenvolve um sistema de Machine Learning para apoiar o diagnóstico da Síndrome dos Ovários Policísticos — a SOP — utilizando dados clínicos reais de 541 pacientes coletados em 10 hospitais na Índia.</a:t>
            </a:r>
          </a:p>
          <a:p/>
          <a:p>
            <a:r>
              <a:t>Vou apresentar todo o pipeline técnico: da exploração dos dados, passando pelo pré-processamento, feature engineering, treinamento de 4 modelos, avaliação de métricas, até a explicabilidade com SHAP.</a:t>
            </a:r>
          </a:p>
          <a:p/>
          <a:p>
            <a:r>
              <a:t>Sem mais demora, vamos começar.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— O PROBLEMA (≈ 1 min)</a:t>
            </a:r>
          </a:p>
          <a:p/>
          <a:p>
            <a:r>
              <a:t>Vamos entender por que esse problema importa clinicamente.</a:t>
            </a:r>
          </a:p>
          <a:p/>
          <a:p>
            <a:r>
              <a:t>A SOP afeta entre 8 e 13% das mulheres em idade reprodutiva, mas muitas chegam ao diagnóstico tarde porque os sintomas são difusos. Ela está associada a infertilidade, diabetes tipo 2 e risco cardiovascular elevado.</a:t>
            </a:r>
          </a:p>
          <a:p/>
          <a:p>
            <a:r>
              <a:t>Do ponto de vista de Machine Learning, temos um problema de classificação binária: dado um conjunto de exames clínicos, o modelo deve prever se a paciente tem ou não tem SOP.</a:t>
            </a:r>
          </a:p>
          <a:p/>
          <a:p>
            <a:r>
              <a:t>Os dados vêm do Kaggle — 541 pacientes, 44 features clínicas, com um leve desequilíbrio: 67% saudáveis e 33% com SOP.</a:t>
            </a:r>
          </a:p>
          <a:p/>
          <a:p>
            <a:r>
              <a:t>Um ponto crítico para o nosso projeto: o erro mais grave é o falso negativo — ou seja, uma paciente com SOP ser classificada como saudável. Por isso, a métrica prioritária do projeto é o Recall, e não a acurácia simples.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— DATASET (≈ 1 min)</a:t>
            </a:r>
          </a:p>
          <a:p/>
          <a:p>
            <a:r>
              <a:t>O dataset é público no Kaggle, publicado por Prasoon Kottarathil em 2020, com dados de 541 pacientes coletados em 10 hospitais do estado de Kerala, na Índia.</a:t>
            </a:r>
          </a:p>
          <a:p/>
          <a:p>
            <a:r>
              <a:t>Os dados estão divididos em dois arquivos: o principal tem 44 colunas com dados clínicos gerais, e um arquivo CSV complementar traz três features adicionais de beta-HCG e AMH. O merge é feito pelo número do prontuário da paciente.</a:t>
            </a:r>
          </a:p>
          <a:p/>
          <a:p>
            <a:r>
              <a:t>As features cobrem 7 grupos: dados demográficos como IMC e idade; marcadores hormonais como FSH, LH e AMH; dados metabólicos como glicose e hemoglobina; sintomas clínicos como ganho de peso e acne; dados de ultrassom com número de folículos; dados comportamentais como fast food e exercício; e dados reprodutivos.</a:t>
            </a:r>
          </a:p>
          <a:p/>
          <a:p>
            <a:r>
              <a:t>Após a limpeza, ficamos com 42 features úteis — 3 colunas foram removidas por serem identificadores ou colunas vazias.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— EDA: DISTRIBUIÇÃO (≈ 1 min)</a:t>
            </a:r>
          </a:p>
          <a:p/>
          <a:p>
            <a:r>
              <a:t>Neste slide temos três gráficos da análise exploratória inicial.</a:t>
            </a:r>
          </a:p>
          <a:p/>
          <a:p>
            <a:r>
              <a:t>O primeiro mostra a distribuição do target: 364 pacientes sem SOP (67%) e 177 com SOP (33%). O desequilíbrio é moderado — suficiente para nos preocuparmos com recall, mas não tão severo a ponto de precisarmos de oversampling.</a:t>
            </a:r>
          </a:p>
          <a:p/>
          <a:p>
            <a:r>
              <a:t>O segundo gráfico mostra histogramas das principais features clínicas, separadas por diagnóstico. Podemos ver que features hormonais como AMH e FSH/LH apresentam distribuições claramente diferentes entre os dois grupos — isso indica alto poder preditivo.</a:t>
            </a:r>
          </a:p>
          <a:p/>
          <a:p>
            <a:r>
              <a:t>O terceiro são boxplots que confirmam essas diferenças: pacientes com SOP têm valores significativamente maiores de AMH e folículos ovarianos, que são justamente os marcadores diagnósticos conhecidos clinicamente.</a:t>
            </a:r>
          </a:p>
          <a:p/>
          <a:p>
            <a:r>
              <a:t>Essa análise exploratória guiou a escolha das features mais relevantes e a decisão de não fazer oversampling agressivo.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— EDA: SINTOMAS E CORRELAÇÃO (≈ 1 min)</a:t>
            </a:r>
          </a:p>
          <a:p/>
          <a:p>
            <a:r>
              <a:t>À esquerda, o gráfico de prevalência dos sintomas clínicos. Podemos ver que pacientes com SOP têm taxas muito mais altas de ganho de peso, crescimento de pelos, escurecimento da pele, queda de cabelo e acne. Isso motivou a criação de uma feature de engenharia: a soma dos sintomas.</a:t>
            </a:r>
          </a:p>
          <a:p/>
          <a:p>
            <a:r>
              <a:t>À direita, o heatmap de correlação entre todas as features. Os pontos mais relevantes são:</a:t>
            </a:r>
          </a:p>
          <a:p>
            <a:r>
              <a:t>- Follicle No. L e R têm alta correlação com o target</a:t>
            </a:r>
          </a:p>
          <a:p>
            <a:r>
              <a:t>- AMH e FSH/LH também aparecem com correlação elevada</a:t>
            </a:r>
          </a:p>
          <a:p>
            <a:r>
              <a:t>- Algumas features têm correlação próxima de zero com o target, o que vai motivar a feature selection mais adiante</a:t>
            </a:r>
          </a:p>
          <a:p/>
          <a:p>
            <a:r>
              <a:t>O heatmap também mostra multicolinearidade esperada: os dois ovários (L e R) têm alta correlação entre si, o que faz sentido fisiologicamente.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 — PRÉ-PROCESSAMENTO (≈ 1 min)</a:t>
            </a:r>
          </a:p>
          <a:p/>
          <a:p>
            <a:r>
              <a:t>O pipeline de pré-processamento tem 5 etapas.</a:t>
            </a:r>
          </a:p>
          <a:p/>
          <a:p>
            <a:r>
              <a:t>Primeiro, o merge dos dois arquivos pelo número de prontuário da paciente — Patient File No. — para incorporar as três features de beta-HCG e AMH do arquivo CSV.</a:t>
            </a:r>
          </a:p>
          <a:p/>
          <a:p>
            <a:r>
              <a:t>Segundo, remoção de colunas sem valor preditivo: o número sequencial do registro, o ID da paciente e uma coluna vazia.</a:t>
            </a:r>
          </a:p>
          <a:p/>
          <a:p>
            <a:r>
              <a:t>Terceiro, imputação por mediana nas duas colunas com valores ausentes — Marriage Status e Fast food. Usamos mediana e não média porque é mais robusta a outliers, especialmente em dados hormonais.</a:t>
            </a:r>
          </a:p>
          <a:p/>
          <a:p>
            <a:r>
              <a:t>Quarto, Label Encoding para Blood Group, transformando os tipos sanguíneos em números de 0 a 7.</a:t>
            </a:r>
          </a:p>
          <a:p/>
          <a:p>
            <a:r>
              <a:t>Quinto, e mais importante do ponto de vista metodológico: o StandardScaler é ajustado APENAS no conjunto de treino e depois aplicado no teste. Isso evita data leakage — se fitássemos no conjunto completo, estaríamos "contaminando" o treino com informação do teste.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 — FEATURE ENGINEERING (≈ 1 min)</a:t>
            </a:r>
          </a:p>
          <a:p/>
          <a:p>
            <a:r>
              <a:t>Feature engineering é uma das etapas que mais diferencia um modelo mediano de um bom modelo. Criamos 4 features novas a partir do conhecimento clínico sobre SOP.</a:t>
            </a:r>
          </a:p>
          <a:p/>
          <a:p>
            <a:r>
              <a:t>A primeira — total_foliculos — é a soma dos folículos dos dois ovários. Separados, os dois lados têm correlação individual menor; combinados, esse total tornou-se a feature mais importante do Random Forest com 18% de importância.</a:t>
            </a:r>
          </a:p>
          <a:p/>
          <a:p>
            <a:r>
              <a:t>A segunda — soma_sintomas — conta quantos dos 5 sintomas clínicos a paciente apresenta. Individualmente, cada sintoma tem correlação moderada com o target, mas a carga sintomática total é muito mais informativa.</a:t>
            </a:r>
          </a:p>
          <a:p/>
          <a:p>
            <a:r>
              <a:t>A terceira — faixa_imc — transforma o IMC numérico em uma categoria ordinal: abaixo do peso, normal, sobrepeso e obesidade. Isso captura relações não-lineares que um valor numérico bruto pode não transmitir bem.</a:t>
            </a:r>
          </a:p>
          <a:p/>
          <a:p>
            <a:r>
              <a:t>A quarta — razao_lh_fsh — é justamente a razão LH dividido por FSH. Uma razão acima de 2 é um critério diagnóstico clássico de SOP na medicina. Ao criar essa feature, estamos codificando conhecimento médico diretamente no modelo.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8 — FEATURE SELECTION E SPLIT (≈ 1 min)</a:t>
            </a:r>
          </a:p>
          <a:p/>
          <a:p>
            <a:r>
              <a:t>Após o feature engineering tínhamos 45 features. Aplicamos uma seleção simples baseada em correlação com o target: removemos todas as features com correlação de Pearson menor que 0.05 em valor absoluto.</a:t>
            </a:r>
          </a:p>
          <a:p/>
          <a:p>
            <a:r>
              <a:t>Isso eliminou 14 features que tinham pouquíssimo poder preditivo — como dados de pressão arterial diastólica e algumas medidas reprodutivas com baixa correlação com o diagnóstico. Ficamos com 31 features.</a:t>
            </a:r>
          </a:p>
          <a:p/>
          <a:p>
            <a:r>
              <a:t>Para a divisão treino/teste, usamos 80% para treinamento e 20% para teste. Dois parâmetros são críticos:</a:t>
            </a:r>
          </a:p>
          <a:p>
            <a:r>
              <a:t>- random_state=42 garante reprodutibilidade — qualquer pessoa rodando o código vai obter exatamente os mesmos resultados</a:t>
            </a:r>
          </a:p>
          <a:p>
            <a:r>
              <a:t>- stratify=y garante que a proporção de 67/33 entre saudáveis e com SOP seja mantida nos dois conjuntos. Sem isso, poderíamos ter um conjunto de teste com muitos ou poucos casos positivos por acaso, o que enviesaria a avaliação.</a:t>
            </a:r>
          </a:p>
          <a:p/>
          <a:p>
            <a:r>
              <a:t>O resultado final: 432 pacientes para treino e 109 para teste.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9 — POR QUE RECALL? (≈ 1 min)</a:t>
            </a:r>
          </a:p>
          <a:p/>
          <a:p>
            <a:r>
              <a:t>Esse slide é importante para justificar as nossas escolhas técnicas do ponto de vista clínico.</a:t>
            </a:r>
          </a:p>
          <a:p/>
          <a:p>
            <a:r>
              <a:t>Em qualquer problema de classificação médica, precisamos entender o custo assimétrico dos erros.</a:t>
            </a:r>
          </a:p>
          <a:p/>
          <a:p>
            <a:r>
              <a:t>Um Falso Negativo — quando o modelo classifica como saudável uma paciente que na verdade tem SOP — significa que ela vai embora sem diagnóstico, sem tratamento, e vai enfrentar meses ou anos de sintomas não tratados, com risco de infertilidade, desenvolvimento de diabetes e problemas cardiovasculares.</a:t>
            </a:r>
          </a:p>
          <a:p/>
          <a:p>
            <a:r>
              <a:t>Já um Falso Positivo — quando classificamos com SOP uma paciente saudável — gera um transtorno menor: ela vai fazer um exame confirmatório adicional, e o resultado vai esclarecer o erro.</a:t>
            </a:r>
          </a:p>
          <a:p/>
          <a:p>
            <a:r>
              <a:t>Portanto, os erros NÃO têm o mesmo custo. Minimizar falsos negativos é prioritário.</a:t>
            </a:r>
          </a:p>
          <a:p/>
          <a:p>
            <a:r>
              <a:t>O Recall — TP dividido por TP mais FN — captura exatamente isso: de todas as pacientes com SOP, quantas o modelo identificou corretamente? É essa a métrica que vamos priorizar.</a:t>
            </a:r>
          </a:p>
          <a:p/>
          <a:p>
            <a:r>
              <a:t>Para compensar o desequilíbrio de classes, todos os modelos foram treinados com class_weight igual a balanced, o que dá mais peso às amostras da classe minoritária.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10 — OS 4 MODELOS (≈ 1 min)</a:t>
            </a:r>
          </a:p>
          <a:p/>
          <a:p>
            <a:r>
              <a:t>Treinamos 4 modelos de classificação. A escolha foi estratégica para cobrir diferentes paradigmas de ML.</a:t>
            </a:r>
          </a:p>
          <a:p/>
          <a:p>
            <a:r>
              <a:t>A Regressão Logística funciona como baseline: é o modelo mais simples e interpretável. Os coeficientes nos dizem diretamente qual feature empurra o modelo para cada direção.</a:t>
            </a:r>
          </a:p>
          <a:p/>
          <a:p>
            <a:r>
              <a:t>A Árvore de Decisão gera regras explícitas — é possível visualizar o processo de decisão. Boa para explicabilidade, mas tende a overfitting.</a:t>
            </a:r>
          </a:p>
          <a:p/>
          <a:p>
            <a:r>
              <a:t>O Random Forest é um ensemble de 100 árvores de decisão. Cada árvore é treinada em um subconjunto aleatório dos dados e das features, e a previsão final é a votação da maioria. Isso reduz drasticamente o overfitting e geralmente produz os melhores resultados numéricos.</a:t>
            </a:r>
          </a:p>
          <a:p/>
          <a:p>
            <a:r>
              <a:t>O KNN com k igual a 5 classifica cada paciente com base nos 5 vizinhos mais próximos no espaço de features. É um modelo não-paramétrico que serve de contraste com os outros.</a:t>
            </a:r>
          </a:p>
          <a:p/>
          <a:p>
            <a:r>
              <a:t>Um detalhe importante: todos os modelos foram treinados com class_weight igual a balanced — exceto o KNN que não suporta esse parâmetro. Esse parâmetro faz com que o algoritmo dê mais peso às amostras da classe minoritária — pacientes com SOP — durante o treinamento, o que melhora o Recall.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11 — RESULTADOS (≈ 1 min)</a:t>
            </a:r>
          </a:p>
          <a:p/>
          <a:p>
            <a:r>
              <a:t>Aqui estão os resultados dos 4 modelos no conjunto de teste.</a:t>
            </a:r>
          </a:p>
          <a:p/>
          <a:p>
            <a:r>
              <a:t>Para o Recall — nossa métrica prioritária — o melhor modelo é a Regressão Logística, com 88.89%. Isso significa que de 36 pacientes com SOP no conjunto de teste, ela classificou corretamente 32 — apenas 4 falsos negativos.</a:t>
            </a:r>
          </a:p>
          <a:p/>
          <a:p>
            <a:r>
              <a:t>Para Acurácia e F1-Score, o Random Forest é superior: 93.58% de acurácia e 89.55% de F1.</a:t>
            </a:r>
          </a:p>
          <a:p/>
          <a:p>
            <a:r>
              <a:t>O KNN tem um Recall relativamente baixo — 77.78% — o que na prática seria preocupante clinicamente: deixaria de detectar 22% das pacientes com SOP.</a:t>
            </a:r>
          </a:p>
          <a:p/>
          <a:p>
            <a:r>
              <a:t>A validação cruzada com K-Fold confirma a robustez dos resultados: o Random Forest mantém F1 de 82.89% com desvio padrão de apenas 3.25%, enquanto o KNN tem variância maior — 5.68% — o que indica menos estabilidade.</a:t>
            </a:r>
          </a:p>
          <a:p/>
          <a:p>
            <a:r>
              <a:t>Em resumo: para uso clínico real, a Regressão Logística seria a escolha pelo alto Recall. Para um contexto onde equilíbrio de métricas importa, o Random Forest é superior.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12 — MATRIZES E ROC (≈ 1 min)</a:t>
            </a:r>
          </a:p>
          <a:p/>
          <a:p>
            <a:r>
              <a:t>À esquerda, as matrizes de confusão dos 4 modelos. O ponto crítico em cada matriz é o número de Falsos Negativos — a célula inferior esquerda.</a:t>
            </a:r>
          </a:p>
          <a:p/>
          <a:p>
            <a:r>
              <a:t>A Regressão Logística tem apenas 4 FN — o melhor resultado. O Random Forest tem 6 FN. O KNN tem 8 FN — o pior resultado para o contexto médico.</a:t>
            </a:r>
          </a:p>
          <a:p/>
          <a:p>
            <a:r>
              <a:t>À direita, as curvas ROC. O eixo X é a taxa de Falsos Positivos, o eixo Y é a taxa de Verdadeiros Positivos. Quanto mais próxima da diagonal superior esquerda, melhor.</a:t>
            </a:r>
          </a:p>
          <a:p/>
          <a:p>
            <a:r>
              <a:t>A Regressão Logística obteve AUC de 0.9631 e o KNN ficou muito próximo com 0.9614. O Random Forest tem AUC de 0.9505 — todos são excelentes, bem acima de 0.90. A Árvore de Decisão isolada tem AUC menor — 0.8701 — o que confirma que o ensemble do Random Forest melhora substancialmente a discriminação.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13 — FEATURE IMPORTANCE (≈ 1 min)</a:t>
            </a:r>
          </a:p>
          <a:p/>
          <a:p>
            <a:r>
              <a:t>O gráfico de Feature Importance do Random Forest nos mostra quais variáveis tiveram mais impacto nas predições.</a:t>
            </a:r>
          </a:p>
          <a:p/>
          <a:p>
            <a:r>
              <a:t>O resultado mais marcante é que as duas features criadas no Feature Engineering estão no top 3:</a:t>
            </a:r>
          </a:p>
          <a:p/>
          <a:p>
            <a:r>
              <a:t>- total_foliculos ficou em 1o lugar com 18.17% de importância — a soma dos folículos dos dois ovários é o preditor mais forte do modelo</a:t>
            </a:r>
          </a:p>
          <a:p>
            <a:r>
              <a:t>- soma_sintomas ficou em 3o lugar com 10.25%</a:t>
            </a:r>
          </a:p>
          <a:p/>
          <a:p>
            <a:r>
              <a:t>Isso valida completamente a decisão de criar essas features. Sem o feature engineering, teríamos features de folículos L e R separadas, com importâncias menores.</a:t>
            </a:r>
          </a:p>
          <a:p/>
          <a:p>
            <a:r>
              <a:t>As features clínicas naturais que aparecem no ranking — Follicle No. R e L, AMH e FSH/LH — são exatamente os marcadores que a medicina já sabe que são importantes para o diagnóstico de SOP. O fato de o modelo ter aprendido isso nos dados sem supervisão direta é uma excelente validação.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14 — SHAP VALUES (≈ 1 min)</a:t>
            </a:r>
          </a:p>
          <a:p/>
          <a:p>
            <a:r>
              <a:t>SHAP — SHapley Additive exPlanations — é uma técnica baseada na teoria dos jogos que explica a previsão de qualquer modelo. Para cada previsão individual, o SHAP calcula a contribuição de cada feature no resultado final.</a:t>
            </a:r>
          </a:p>
          <a:p/>
          <a:p>
            <a:r>
              <a:t>Temos três visualizações:</a:t>
            </a:r>
          </a:p>
          <a:p/>
          <a:p>
            <a:r>
              <a:t>À esquerda: o SHAP Summary Plot. Cada ponto é uma paciente. A posição horizontal mostra se a feature empurrou a previsão para SOP ou para saudável. A cor indica o valor da feature — vermelho para valores altos, azul para baixos. Vemos que total_foliculos alto — pontos vermelhos à direita — aumenta muito a probabilidade de SOP.</a:t>
            </a:r>
          </a:p>
          <a:p/>
          <a:p>
            <a:r>
              <a:t>No centro: o SHAP Bar Plot, que mostra a importância média de cada feature. É uma versão mais limpa do Feature Importance — mesma mensagem, diferente escala.</a:t>
            </a:r>
          </a:p>
          <a:p/>
          <a:p>
            <a:r>
              <a:t>À direita: o SHAP Waterfall para uma previsão individual. Partindo do valor base médio do modelo, cada feature soma ou subtrai da previsão final. É uma forma de explicar para um médico: "este modelo previu SOP para esta paciente principalmente porque ela tem 18 folículos totais e AMH elevado."</a:t>
            </a:r>
          </a:p>
          <a:p/>
          <a:p>
            <a:r>
              <a:t>Essa explicabilidade é fundamental para aplicações clínicas — não basta o modelo acertar, é preciso explicar por quê.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15 — CONCLUSÃO (≈ 1 min)</a:t>
            </a:r>
          </a:p>
          <a:p/>
          <a:p>
            <a:r>
              <a:t>Para fechar, um resumo do que foi alcançado e das limitações honestas do projeto.</a:t>
            </a:r>
          </a:p>
          <a:p/>
          <a:p>
            <a:r>
              <a:t>Do lado das conquistas: construímos um pipeline completo e reprodutível, com 4 modelos comparados. O Feature Engineering foi validado — as features criadas ficaram entre as mais importantes. A Regressão Logística atingiu 88.89% de Recall com apenas 4 falsos negativos. Todos os modelos têm AUC-ROC acima de 0.87, e os 3 melhores acima de 0.95. A explicabilidade com SHAP torna o sistema utilizável em contexto clínico.</a:t>
            </a:r>
          </a:p>
          <a:p/>
          <a:p>
            <a:r>
              <a:t>Do lado das limitações: o dataset é de Kerala, Índia, e precisa ser validado com dados de populações diferentes. As 541 amostras são suficientes para modelos clássicos de ML, mas insuficientes para deep learning. O threshold padrão de 0.5 pode ser ajustado para aumentar ainda mais o Recall às custas de mais falsos positivos — isso seria uma calibração para uso real. E não há validação prospectiva — o modelo foi testado apenas em dados históricos.</a:t>
            </a:r>
          </a:p>
          <a:p/>
          <a:p>
            <a:r>
              <a:t>Próximos passos naturais seriam XGBoost, ajuste de threshold, coleta de mais dados e uma API REST para integração hospitalar.</a:t>
            </a:r>
          </a:p>
          <a:p/>
          <a:p>
            <a:r>
              <a:t>Obrigado pela atenção! Qualquer dúvida sobre o código está disponível no notebook do repositório.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00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iap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01168"/>
            <a:ext cx="1734206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ED80A0"/>
                </a:solidFill>
                <a:latin typeface="Calibri"/>
              </a:rPr>
              <a:t>FIAP POSTECH — IA para Devs  |  Tech Challenge Fase 1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8412480" cy="36576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98448"/>
            <a:ext cx="8412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Diagnóstico de SOP com
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83464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DDDDD"/>
                </a:solidFill>
                <a:latin typeface="Calibri"/>
              </a:rPr>
              <a:t>Síndrome dos Ovários Policísticos — Classificação Binária
Dataset Kaggle · 541 pacientes · 4 modelos comparados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84048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D80A0"/>
                </a:solidFill>
                <a:latin typeface="Calibri"/>
              </a:rPr>
              <a:t>Matheus Tomaz  |  mathtomaz.1@gmail.com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25196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99999"/>
                </a:solidFill>
                <a:latin typeface="Calibri"/>
              </a:rPr>
              <a:t>Maio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0"/>
            <a:ext cx="7772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O Problema: Síndrome dos Ovários Policísticos (SOP)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0"/>
            <a:ext cx="8229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FFCCDD"/>
                </a:solidFill>
                <a:latin typeface="Calibri"/>
              </a:rPr>
              <a:t>2/15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4800600"/>
            <a:ext cx="868680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666666"/>
                </a:solidFill>
                <a:latin typeface="Calibri"/>
              </a:rPr>
              <a:t>FIAP POSTECH — IA para Devs  |  Tech Challenge Fase 1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822960"/>
            <a:ext cx="4114800" cy="3749039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0" y="822960"/>
            <a:ext cx="4343400" cy="3749039"/>
          </a:xfrm>
          <a:prstGeom prst="rect">
            <a:avLst/>
          </a:prstGeom>
          <a:solidFill>
            <a:srgbClr val="FD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50392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D145B"/>
                </a:solidFill>
                <a:latin typeface="Calibri"/>
              </a:rPr>
              <a:t>Contexto Clínico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353312"/>
            <a:ext cx="54864" cy="54864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316736"/>
            <a:ext cx="3703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22"/>
                </a:solidFill>
                <a:latin typeface="Calibri"/>
              </a:rPr>
              <a:t>Distúrbio endócrino mais comum em mulheres em idade reprodutiva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792224"/>
            <a:ext cx="54864" cy="54864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755648"/>
            <a:ext cx="3703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22"/>
                </a:solidFill>
                <a:latin typeface="Calibri"/>
              </a:rPr>
              <a:t>Afeta 8–13% das mulheres globalmente (OMS)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231136"/>
            <a:ext cx="54864" cy="54864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194560"/>
            <a:ext cx="3703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22"/>
                </a:solidFill>
                <a:latin typeface="Calibri"/>
              </a:rPr>
              <a:t>Causa: desequilíbrio hormonal → produção excessiva de andrógenos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670048"/>
            <a:ext cx="54864" cy="54864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633472"/>
            <a:ext cx="3703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22"/>
                </a:solidFill>
                <a:latin typeface="Calibri"/>
              </a:rPr>
              <a:t>Sintomas: cistos ovarianos, irregularidade menstrual, acne, ganho de peso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108960"/>
            <a:ext cx="54864" cy="54864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072384"/>
            <a:ext cx="3703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22"/>
                </a:solidFill>
                <a:latin typeface="Calibri"/>
              </a:rPr>
              <a:t>Consequências: infertilidade, diabetes tipo 2, doenças cardiovasculares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547872"/>
            <a:ext cx="54864" cy="54864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511296"/>
            <a:ext cx="3703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22"/>
                </a:solidFill>
                <a:latin typeface="Calibri"/>
              </a:rPr>
              <a:t>Diagnóstico tardio é frequente — exige exames clínicos e ultrassom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9160" y="850392"/>
            <a:ext cx="4069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D145B"/>
                </a:solidFill>
                <a:latin typeface="Calibri"/>
              </a:rPr>
              <a:t>O Desafio de ML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1298448"/>
            <a:ext cx="4069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2222"/>
                </a:solidFill>
                <a:latin typeface="Calibri"/>
              </a:rPr>
              <a:t>Classificação binária:
0 = sem SOP  |  1 = com SOP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09160" y="2011680"/>
            <a:ext cx="2011680" cy="822960"/>
          </a:xfrm>
          <a:prstGeom prst="rect">
            <a:avLst/>
          </a:prstGeom>
          <a:solidFill>
            <a:srgbClr val="FFFFFF"/>
          </a:solidFill>
          <a:ln w="1524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00600" y="203911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D145B"/>
                </a:solidFill>
                <a:latin typeface="Calibri"/>
              </a:rPr>
              <a:t>541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24505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Calibri"/>
              </a:rPr>
              <a:t>pacientes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03720" y="2011680"/>
            <a:ext cx="2011680" cy="822960"/>
          </a:xfrm>
          <a:prstGeom prst="rect">
            <a:avLst/>
          </a:prstGeom>
          <a:solidFill>
            <a:srgbClr val="FFFFFF"/>
          </a:solidFill>
          <a:ln w="1524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95159" y="203911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D145B"/>
                </a:solidFill>
                <a:latin typeface="Calibri"/>
              </a:rPr>
              <a:t>44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59" y="24505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Calibri"/>
              </a:rPr>
              <a:t>features clínicas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09160" y="3017520"/>
            <a:ext cx="2011680" cy="822960"/>
          </a:xfrm>
          <a:prstGeom prst="rect">
            <a:avLst/>
          </a:prstGeom>
          <a:solidFill>
            <a:srgbClr val="FFFFFF"/>
          </a:solidFill>
          <a:ln w="1524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0600" y="3044951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D145B"/>
                </a:solidFill>
                <a:latin typeface="Calibri"/>
              </a:rPr>
              <a:t>67% / 33%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00600" y="34564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Calibri"/>
              </a:rPr>
              <a:t>sem SOP / com SOP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03720" y="3017520"/>
            <a:ext cx="2011680" cy="822960"/>
          </a:xfrm>
          <a:prstGeom prst="rect">
            <a:avLst/>
          </a:prstGeom>
          <a:solidFill>
            <a:srgbClr val="FFFFFF"/>
          </a:solidFill>
          <a:ln w="1524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95159" y="3044951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D145B"/>
                </a:solidFill>
                <a:latin typeface="Calibri"/>
              </a:rPr>
              <a:t>Recall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95159" y="34564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Calibri"/>
              </a:rPr>
              <a:t>métrica prioritária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09160" y="3977639"/>
            <a:ext cx="4069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222222"/>
                </a:solidFill>
                <a:latin typeface="Calibri"/>
              </a:rPr>
              <a:t>Um falso negativo (SOP não detectada) tem
custo clínico muito maior que um falso positivo.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0"/>
            <a:ext cx="7772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Dataset — PCOS Kaggle (Kerala, Índia)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0"/>
            <a:ext cx="8229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FFCCDD"/>
                </a:solidFill>
                <a:latin typeface="Calibri"/>
              </a:rPr>
              <a:t>3/15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4800600"/>
            <a:ext cx="868680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666666"/>
                </a:solidFill>
                <a:latin typeface="Calibri"/>
              </a:rPr>
              <a:t>FIAP POSTECH — IA para Devs  |  Tech Challenge Fase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77724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66666"/>
                </a:solidFill>
                <a:latin typeface="Calibri"/>
              </a:rPr>
              <a:t>Fonte: Prasoon Kottarathil, 2020 — Coletado em 10 hospitais do Kerala, Índia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188720"/>
            <a:ext cx="1920240" cy="402336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" y="1243584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Grupo de Features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48840" y="1188720"/>
            <a:ext cx="4572000" cy="402336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12848" y="1243584"/>
            <a:ext cx="4480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Exemplos de Colunas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20840" y="1188720"/>
            <a:ext cx="640080" cy="402336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84848" y="1243584"/>
            <a:ext cx="548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Qtd.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1591056"/>
            <a:ext cx="1920240" cy="384048"/>
          </a:xfrm>
          <a:prstGeom prst="rect">
            <a:avLst/>
          </a:prstGeom>
          <a:solidFill>
            <a:srgbClr val="F7F7F7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8" y="164592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alibri"/>
              </a:rPr>
              <a:t>Demográficas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48840" y="1591056"/>
            <a:ext cx="4572000" cy="384048"/>
          </a:xfrm>
          <a:prstGeom prst="rect">
            <a:avLst/>
          </a:prstGeom>
          <a:solidFill>
            <a:srgbClr val="F7F7F7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12848" y="1645920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alibri"/>
              </a:rPr>
              <a:t>Age, Weight (Kg), Height (Cm), BMI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20840" y="1591056"/>
            <a:ext cx="640080" cy="384048"/>
          </a:xfrm>
          <a:prstGeom prst="rect">
            <a:avLst/>
          </a:prstGeom>
          <a:solidFill>
            <a:srgbClr val="F7F7F7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8" y="1645920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2222"/>
                </a:solidFill>
                <a:latin typeface="Calibri"/>
              </a:rPr>
              <a:t>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1993392"/>
            <a:ext cx="19202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2608" y="2048256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alibri"/>
              </a:rPr>
              <a:t>Hormonais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48840" y="1993392"/>
            <a:ext cx="45720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12848" y="2048256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alibri"/>
              </a:rPr>
              <a:t>FSH, LH, FSH/LH, AMH (ng/mL), TSH, PRL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20840" y="1993392"/>
            <a:ext cx="6400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84848" y="2048256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2222"/>
                </a:solidFill>
                <a:latin typeface="Calibri"/>
              </a:rPr>
              <a:t>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2395728"/>
            <a:ext cx="1920240" cy="384048"/>
          </a:xfrm>
          <a:prstGeom prst="rect">
            <a:avLst/>
          </a:prstGeom>
          <a:solidFill>
            <a:srgbClr val="F7F7F7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2608" y="2450592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alibri"/>
              </a:rPr>
              <a:t>Metabólicas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48840" y="2395728"/>
            <a:ext cx="4572000" cy="384048"/>
          </a:xfrm>
          <a:prstGeom prst="rect">
            <a:avLst/>
          </a:prstGeom>
          <a:solidFill>
            <a:srgbClr val="F7F7F7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12848" y="2450592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alibri"/>
              </a:rPr>
              <a:t>RBS (Glicose), Hb, BP Sys/Dia, Pulse rate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20840" y="2395728"/>
            <a:ext cx="640080" cy="384048"/>
          </a:xfrm>
          <a:prstGeom prst="rect">
            <a:avLst/>
          </a:prstGeom>
          <a:solidFill>
            <a:srgbClr val="F7F7F7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84848" y="245059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2222"/>
                </a:solidFill>
                <a:latin typeface="Calibri"/>
              </a:rPr>
              <a:t>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" y="2798064"/>
            <a:ext cx="19202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2608" y="285292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alibri"/>
              </a:rPr>
              <a:t>Sintomas Clínicos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48840" y="2798064"/>
            <a:ext cx="45720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212848" y="2852928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alibri"/>
              </a:rPr>
              <a:t>Weight gain, Hair growth, Skin darkening, Pimples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720840" y="2798064"/>
            <a:ext cx="6400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84848" y="2852928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2222"/>
                </a:solidFill>
                <a:latin typeface="Calibri"/>
              </a:rPr>
              <a:t>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8600" y="3200400"/>
            <a:ext cx="1920240" cy="384048"/>
          </a:xfrm>
          <a:prstGeom prst="rect">
            <a:avLst/>
          </a:prstGeom>
          <a:solidFill>
            <a:srgbClr val="F7F7F7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2608" y="3255264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alibri"/>
              </a:rPr>
              <a:t>Ultrassom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48840" y="3200400"/>
            <a:ext cx="4572000" cy="384048"/>
          </a:xfrm>
          <a:prstGeom prst="rect">
            <a:avLst/>
          </a:prstGeom>
          <a:solidFill>
            <a:srgbClr val="F7F7F7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212848" y="3255264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alibri"/>
              </a:rPr>
              <a:t>Follicle No. L/R, Avg F size L/R, Endometrium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720840" y="3200400"/>
            <a:ext cx="640080" cy="384048"/>
          </a:xfrm>
          <a:prstGeom prst="rect">
            <a:avLst/>
          </a:prstGeom>
          <a:solidFill>
            <a:srgbClr val="F7F7F7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84848" y="3255264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2222"/>
                </a:solidFill>
                <a:latin typeface="Calibri"/>
              </a:rPr>
              <a:t>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28600" y="3602736"/>
            <a:ext cx="19202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92608" y="365760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alibri"/>
              </a:rPr>
              <a:t>Comportamental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48840" y="3602736"/>
            <a:ext cx="45720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212848" y="3657600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alibri"/>
              </a:rPr>
              <a:t>Fast food (Y/N), Reg.Exercise (Y/N)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720840" y="3602736"/>
            <a:ext cx="6400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84848" y="3657600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2222"/>
                </a:solidFill>
                <a:latin typeface="Calibri"/>
              </a:rPr>
              <a:t>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28600" y="4005072"/>
            <a:ext cx="1920240" cy="384048"/>
          </a:xfrm>
          <a:prstGeom prst="rect">
            <a:avLst/>
          </a:prstGeom>
          <a:solidFill>
            <a:srgbClr val="F7F7F7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92608" y="4059935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alibri"/>
              </a:rPr>
              <a:t>Reprodutiva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148840" y="4005072"/>
            <a:ext cx="4572000" cy="384048"/>
          </a:xfrm>
          <a:prstGeom prst="rect">
            <a:avLst/>
          </a:prstGeom>
          <a:solidFill>
            <a:srgbClr val="F7F7F7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212848" y="4059935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alibri"/>
              </a:rPr>
              <a:t>Cycle, Cycle length, Pregnant, Abortions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720840" y="4005072"/>
            <a:ext cx="640080" cy="384048"/>
          </a:xfrm>
          <a:prstGeom prst="rect">
            <a:avLst/>
          </a:prstGeom>
          <a:solidFill>
            <a:srgbClr val="F7F7F7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784848" y="4059935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2222"/>
                </a:solidFill>
                <a:latin typeface="Calibri"/>
              </a:rPr>
              <a:t>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452360" y="1188720"/>
            <a:ext cx="1463040" cy="3218688"/>
          </a:xfrm>
          <a:prstGeom prst="rect">
            <a:avLst/>
          </a:prstGeom>
          <a:solidFill>
            <a:srgbClr val="FD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498079" y="123444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D145B"/>
                </a:solidFill>
                <a:latin typeface="Calibri"/>
              </a:rPr>
              <a:t>Destaques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543800" y="1645920"/>
            <a:ext cx="12801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43800" y="1682496"/>
            <a:ext cx="1280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D145B"/>
                </a:solidFill>
                <a:latin typeface="Calibri"/>
              </a:rPr>
              <a:t>541
pacientes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543800" y="2377440"/>
            <a:ext cx="12801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543800" y="2414016"/>
            <a:ext cx="1280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D145B"/>
                </a:solidFill>
                <a:latin typeface="Calibri"/>
              </a:rPr>
              <a:t>42
features
úteis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543800" y="3108960"/>
            <a:ext cx="12801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543800" y="3145536"/>
            <a:ext cx="1280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D145B"/>
                </a:solidFill>
                <a:latin typeface="Calibri"/>
              </a:rPr>
              <a:t>2
arquivos
merge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543800" y="3840480"/>
            <a:ext cx="12801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543800" y="3877056"/>
            <a:ext cx="1280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D145B"/>
                </a:solidFill>
                <a:latin typeface="Calibri"/>
              </a:rPr>
              <a:t>80/20
split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0"/>
            <a:ext cx="7772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EDA — Distribuição do Target e Features Clínicas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0"/>
            <a:ext cx="8229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FFCCDD"/>
                </a:solidFill>
                <a:latin typeface="Calibri"/>
              </a:rPr>
              <a:t>4/15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4800600"/>
            <a:ext cx="868680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666666"/>
                </a:solidFill>
                <a:latin typeface="Calibri"/>
              </a:rPr>
              <a:t>FIAP POSTECH — IA para Devs  |  Tech Challenge Fase 1</a:t>
            </a:r>
          </a:p>
        </p:txBody>
      </p:sp>
      <p:pic>
        <p:nvPicPr>
          <p:cNvPr id="7" name="Picture 6" descr="01_distribuicao_tar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828874"/>
            <a:ext cx="2834640" cy="1682347"/>
          </a:xfrm>
          <a:prstGeom prst="rect">
            <a:avLst/>
          </a:prstGeom>
        </p:spPr>
      </p:pic>
      <p:pic>
        <p:nvPicPr>
          <p:cNvPr id="8" name="Picture 7" descr="02_distribuicao_features_clinic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0" y="1753939"/>
            <a:ext cx="3200400" cy="1832217"/>
          </a:xfrm>
          <a:prstGeom prst="rect">
            <a:avLst/>
          </a:prstGeom>
        </p:spPr>
      </p:pic>
      <p:pic>
        <p:nvPicPr>
          <p:cNvPr id="9" name="Picture 8" descr="03_boxplots_featur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884812"/>
            <a:ext cx="2743200" cy="157047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0"/>
            <a:ext cx="7772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EDA — Prevalência de Sintomas e Heatmap de Correlação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0"/>
            <a:ext cx="8229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FFCCDD"/>
                </a:solidFill>
                <a:latin typeface="Calibri"/>
              </a:rPr>
              <a:t>5/15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4800600"/>
            <a:ext cx="868680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666666"/>
                </a:solidFill>
                <a:latin typeface="Calibri"/>
              </a:rPr>
              <a:t>FIAP POSTECH — IA para Devs  |  Tech Challenge Fase 1</a:t>
            </a:r>
          </a:p>
        </p:txBody>
      </p:sp>
      <p:pic>
        <p:nvPicPr>
          <p:cNvPr id="7" name="Picture 6" descr="04_prevalencia_sintom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637023"/>
            <a:ext cx="4389120" cy="2157489"/>
          </a:xfrm>
          <a:prstGeom prst="rect">
            <a:avLst/>
          </a:prstGeom>
        </p:spPr>
      </p:pic>
      <p:pic>
        <p:nvPicPr>
          <p:cNvPr id="8" name="Picture 7" descr="05_heatmap_correlac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3001" y="749808"/>
            <a:ext cx="4304277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0"/>
            <a:ext cx="7772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Pipeline de Pré-processamento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0"/>
            <a:ext cx="8229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FFCCDD"/>
                </a:solidFill>
                <a:latin typeface="Calibri"/>
              </a:rPr>
              <a:t>6/15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4800600"/>
            <a:ext cx="868680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666666"/>
                </a:solidFill>
                <a:latin typeface="Calibri"/>
              </a:rPr>
              <a:t>FIAP POSTECH — IA para Devs  |  Tech Challenge Fase 1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777240"/>
            <a:ext cx="1645920" cy="1188720"/>
          </a:xfrm>
          <a:prstGeom prst="rect">
            <a:avLst/>
          </a:prstGeom>
          <a:solidFill>
            <a:srgbClr val="FDE8EE"/>
          </a:solidFill>
          <a:ln w="127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80467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D145B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117043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22222"/>
                </a:solidFill>
                <a:latin typeface="Calibri"/>
              </a:rPr>
              <a:t>Merge
Datasets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157276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alibri"/>
              </a:rPr>
              <a:t>JOIN pelo
Patient File No.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1097280"/>
            <a:ext cx="228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D145B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39112" y="777240"/>
            <a:ext cx="1645920" cy="1188720"/>
          </a:xfrm>
          <a:prstGeom prst="rect">
            <a:avLst/>
          </a:prstGeom>
          <a:solidFill>
            <a:srgbClr val="FDE8EE"/>
          </a:solidFill>
          <a:ln w="127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39112" y="80467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D145B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39112" y="117043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22222"/>
                </a:solidFill>
                <a:latin typeface="Calibri"/>
              </a:rPr>
              <a:t>Remover
Colunas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39112" y="157276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alibri"/>
              </a:rPr>
              <a:t>Sl. No, ID,
Unnamed: 44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85032" y="1097280"/>
            <a:ext cx="228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D145B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9624" y="777240"/>
            <a:ext cx="1645920" cy="1188720"/>
          </a:xfrm>
          <a:prstGeom prst="rect">
            <a:avLst/>
          </a:prstGeom>
          <a:solidFill>
            <a:srgbClr val="FDE8EE"/>
          </a:solidFill>
          <a:ln w="127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9624" y="80467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D145B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9624" y="117043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22222"/>
                </a:solidFill>
                <a:latin typeface="Calibri"/>
              </a:rPr>
              <a:t>Imputação
Mediana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9624" y="157276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alibri"/>
              </a:rPr>
              <a:t>2 missing values
Marriage + Fast food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95544" y="1097280"/>
            <a:ext cx="228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D145B"/>
                </a:solidFill>
                <a:latin typeface="Calibri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0136" y="777240"/>
            <a:ext cx="1645920" cy="1188720"/>
          </a:xfrm>
          <a:prstGeom prst="rect">
            <a:avLst/>
          </a:prstGeom>
          <a:solidFill>
            <a:srgbClr val="FDE8EE"/>
          </a:solidFill>
          <a:ln w="127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0136" y="80467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D145B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0136" y="117043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22222"/>
                </a:solidFill>
                <a:latin typeface="Calibri"/>
              </a:rPr>
              <a:t>Label
Encoding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0136" y="157276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alibri"/>
              </a:rPr>
              <a:t>Blood Group
→ 0,1,2,3,4,5,6,7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06055" y="1097280"/>
            <a:ext cx="228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D145B"/>
                </a:solidFill>
                <a:latin typeface="Calibri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70648" y="777240"/>
            <a:ext cx="1645920" cy="1188720"/>
          </a:xfrm>
          <a:prstGeom prst="rect">
            <a:avLst/>
          </a:prstGeom>
          <a:solidFill>
            <a:srgbClr val="FDE8EE"/>
          </a:solidFill>
          <a:ln w="127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70648" y="80467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D145B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70648" y="117043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22222"/>
                </a:solidFill>
                <a:latin typeface="Calibri"/>
              </a:rPr>
              <a:t>StandardScaler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70648" y="157276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alibri"/>
              </a:rPr>
              <a:t>fit apenas no
conjunto de treino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" y="2148840"/>
            <a:ext cx="8686800" cy="25146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2240280"/>
            <a:ext cx="8503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CDD6F4"/>
                </a:solidFill>
                <a:latin typeface="Courier New"/>
              </a:rPr>
              <a:t># Imputação com mediana (robusto a outliers)</a:t>
            </a:r>
          </a:p>
          <a:p>
            <a:r>
              <a:rPr sz="900">
                <a:solidFill>
                  <a:srgbClr val="CDD6F4"/>
                </a:solidFill>
                <a:latin typeface="Courier New"/>
              </a:rPr>
              <a:t>for col in dados.columns:</a:t>
            </a:r>
          </a:p>
          <a:p>
            <a:r>
              <a:rPr sz="900">
                <a:solidFill>
                  <a:srgbClr val="CDD6F4"/>
                </a:solidFill>
                <a:latin typeface="Courier New"/>
              </a:rPr>
              <a:t>    if dados[col].isnull().any():</a:t>
            </a:r>
          </a:p>
          <a:p>
            <a:r>
              <a:rPr sz="900">
                <a:solidFill>
                  <a:srgbClr val="CDD6F4"/>
                </a:solidFill>
                <a:latin typeface="Courier New"/>
              </a:rPr>
              <a:t>        dados[col].fillna(dados[col].median(), inplace=True)</a:t>
            </a:r>
          </a:p>
          <a:p>
            <a:r>
              <a:rPr sz="900">
                <a:solidFill>
                  <a:srgbClr val="CDD6F4"/>
                </a:solidFill>
                <a:latin typeface="Courier New"/>
              </a:rPr>
              <a:t/>
            </a:r>
          </a:p>
          <a:p>
            <a:r>
              <a:rPr sz="900">
                <a:solidFill>
                  <a:srgbClr val="CDD6F4"/>
                </a:solidFill>
                <a:latin typeface="Courier New"/>
              </a:rPr>
              <a:t># Encoding da variável categórica Blood Group</a:t>
            </a:r>
          </a:p>
          <a:p>
            <a:r>
              <a:rPr sz="900">
                <a:solidFill>
                  <a:srgbClr val="CDD6F4"/>
                </a:solidFill>
                <a:latin typeface="Courier New"/>
              </a:rPr>
              <a:t>encoder = LabelEncoder()</a:t>
            </a:r>
          </a:p>
          <a:p>
            <a:r>
              <a:rPr sz="900">
                <a:solidFill>
                  <a:srgbClr val="CDD6F4"/>
                </a:solidFill>
                <a:latin typeface="Courier New"/>
              </a:rPr>
              <a:t>dados['Blood Group'] = encoder.fit_transform(dados['Blood Group'])</a:t>
            </a:r>
          </a:p>
          <a:p>
            <a:r>
              <a:rPr sz="900">
                <a:solidFill>
                  <a:srgbClr val="CDD6F4"/>
                </a:solidFill>
                <a:latin typeface="Courier New"/>
              </a:rPr>
              <a:t/>
            </a:r>
          </a:p>
          <a:p>
            <a:r>
              <a:rPr sz="900">
                <a:solidFill>
                  <a:srgbClr val="CDD6F4"/>
                </a:solidFill>
                <a:latin typeface="Courier New"/>
              </a:rPr>
              <a:t># Divisão treino/teste — 80/20 com estratificação</a:t>
            </a:r>
          </a:p>
          <a:p>
            <a:r>
              <a:rPr sz="900">
                <a:solidFill>
                  <a:srgbClr val="CDD6F4"/>
                </a:solidFill>
                <a:latin typeface="Courier New"/>
              </a:rPr>
              <a:t>X = dados.drop(columns=['PCOS (Y/N)'])</a:t>
            </a:r>
          </a:p>
          <a:p>
            <a:r>
              <a:rPr sz="900">
                <a:solidFill>
                  <a:srgbClr val="CDD6F4"/>
                </a:solidFill>
                <a:latin typeface="Courier New"/>
              </a:rPr>
              <a:t>y = dados['PCOS (Y/N)']</a:t>
            </a:r>
          </a:p>
          <a:p>
            <a:r>
              <a:rPr sz="900">
                <a:solidFill>
                  <a:srgbClr val="CDD6F4"/>
                </a:solidFill>
                <a:latin typeface="Courier New"/>
              </a:rPr>
              <a:t>X_treino, X_teste, y_treino, y_teste = train_test_split(</a:t>
            </a:r>
          </a:p>
          <a:p>
            <a:r>
              <a:rPr sz="900">
                <a:solidFill>
                  <a:srgbClr val="CDD6F4"/>
                </a:solidFill>
                <a:latin typeface="Courier New"/>
              </a:rPr>
              <a:t>    X, y, test_size=0.2, random_state=42, stratify=y)</a:t>
            </a:r>
          </a:p>
          <a:p>
            <a:r>
              <a:rPr sz="900">
                <a:solidFill>
                  <a:srgbClr val="CDD6F4"/>
                </a:solidFill>
                <a:latin typeface="Courier New"/>
              </a:rPr>
              <a:t/>
            </a:r>
          </a:p>
          <a:p>
            <a:r>
              <a:rPr sz="900">
                <a:solidFill>
                  <a:srgbClr val="CDD6F4"/>
                </a:solidFill>
                <a:latin typeface="Courier New"/>
              </a:rPr>
              <a:t># StandardScaler — fit APENAS no treino (evita data leakage)</a:t>
            </a:r>
          </a:p>
          <a:p>
            <a:r>
              <a:rPr sz="900">
                <a:solidFill>
                  <a:srgbClr val="CDD6F4"/>
                </a:solidFill>
                <a:latin typeface="Courier New"/>
              </a:rPr>
              <a:t>scaler = StandardScaler()</a:t>
            </a:r>
          </a:p>
          <a:p>
            <a:r>
              <a:rPr sz="900">
                <a:solidFill>
                  <a:srgbClr val="CDD6F4"/>
                </a:solidFill>
                <a:latin typeface="Courier New"/>
              </a:rPr>
              <a:t>X_treino = scaler.fit_transform(X_treino)</a:t>
            </a:r>
          </a:p>
          <a:p>
            <a:r>
              <a:rPr sz="900">
                <a:solidFill>
                  <a:srgbClr val="CDD6F4"/>
                </a:solidFill>
                <a:latin typeface="Courier New"/>
              </a:rPr>
              <a:t>X_teste  = scaler.transform(X_teste)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0"/>
            <a:ext cx="7772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Feature Engineering — 4 Novas Features Criadas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0"/>
            <a:ext cx="8229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FFCCDD"/>
                </a:solidFill>
                <a:latin typeface="Calibri"/>
              </a:rPr>
              <a:t>7/15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4800600"/>
            <a:ext cx="868680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666666"/>
                </a:solidFill>
                <a:latin typeface="Calibri"/>
              </a:rPr>
              <a:t>FIAP POSTECH — IA para Devs  |  Tech Challenge Fase 1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777240"/>
            <a:ext cx="4800600" cy="38862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868680"/>
            <a:ext cx="46177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CDD6F4"/>
                </a:solidFill>
                <a:latin typeface="Courier New"/>
              </a:rPr>
              <a:t># Feature 1: total de folículos (L + R)</a:t>
            </a:r>
          </a:p>
          <a:p>
            <a:r>
              <a:rPr sz="900">
                <a:solidFill>
                  <a:srgbClr val="CDD6F4"/>
                </a:solidFill>
                <a:latin typeface="Courier New"/>
              </a:rPr>
              <a:t>dados['total_foliculos'] = (</a:t>
            </a:r>
          </a:p>
          <a:p>
            <a:r>
              <a:rPr sz="900">
                <a:solidFill>
                  <a:srgbClr val="CDD6F4"/>
                </a:solidFill>
                <a:latin typeface="Courier New"/>
              </a:rPr>
              <a:t>    dados['Follicle No. (L)'] + dados['Follicle No. (R)'])</a:t>
            </a:r>
          </a:p>
          <a:p>
            <a:r>
              <a:rPr sz="900">
                <a:solidFill>
                  <a:srgbClr val="CDD6F4"/>
                </a:solidFill>
                <a:latin typeface="Courier New"/>
              </a:rPr>
              <a:t/>
            </a:r>
          </a:p>
          <a:p>
            <a:r>
              <a:rPr sz="900">
                <a:solidFill>
                  <a:srgbClr val="CDD6F4"/>
                </a:solidFill>
                <a:latin typeface="Courier New"/>
              </a:rPr>
              <a:t># Feature 2: soma de sintomas clínicos binários</a:t>
            </a:r>
          </a:p>
          <a:p>
            <a:r>
              <a:rPr sz="900">
                <a:solidFill>
                  <a:srgbClr val="CDD6F4"/>
                </a:solidFill>
                <a:latin typeface="Courier New"/>
              </a:rPr>
              <a:t>colunas_sintomas = [</a:t>
            </a:r>
          </a:p>
          <a:p>
            <a:r>
              <a:rPr sz="900">
                <a:solidFill>
                  <a:srgbClr val="CDD6F4"/>
                </a:solidFill>
                <a:latin typeface="Courier New"/>
              </a:rPr>
              <a:t>    'Weight gain(Y/N)', 'hair growth(Y/N)',</a:t>
            </a:r>
          </a:p>
          <a:p>
            <a:r>
              <a:rPr sz="900">
                <a:solidFill>
                  <a:srgbClr val="CDD6F4"/>
                </a:solidFill>
                <a:latin typeface="Courier New"/>
              </a:rPr>
              <a:t>    'Skin darkening (Y/N)', 'Hair loss(Y/N)', 'Pimples(Y/N)']</a:t>
            </a:r>
          </a:p>
          <a:p>
            <a:r>
              <a:rPr sz="900">
                <a:solidFill>
                  <a:srgbClr val="CDD6F4"/>
                </a:solidFill>
                <a:latin typeface="Courier New"/>
              </a:rPr>
              <a:t>dados['soma_sintomas'] = dados[colunas_sintomas].sum(axis=1)</a:t>
            </a:r>
          </a:p>
          <a:p>
            <a:r>
              <a:rPr sz="900">
                <a:solidFill>
                  <a:srgbClr val="CDD6F4"/>
                </a:solidFill>
                <a:latin typeface="Courier New"/>
              </a:rPr>
              <a:t/>
            </a:r>
          </a:p>
          <a:p>
            <a:r>
              <a:rPr sz="900">
                <a:solidFill>
                  <a:srgbClr val="CDD6F4"/>
                </a:solidFill>
                <a:latin typeface="Courier New"/>
              </a:rPr>
              <a:t># Feature 3: faixa de IMC (categórica ordinal)</a:t>
            </a:r>
          </a:p>
          <a:p>
            <a:r>
              <a:rPr sz="900">
                <a:solidFill>
                  <a:srgbClr val="CDD6F4"/>
                </a:solidFill>
                <a:latin typeface="Courier New"/>
              </a:rPr>
              <a:t>def classificar_imc(bmi):</a:t>
            </a:r>
          </a:p>
          <a:p>
            <a:r>
              <a:rPr sz="900">
                <a:solidFill>
                  <a:srgbClr val="CDD6F4"/>
                </a:solidFill>
                <a:latin typeface="Courier New"/>
              </a:rPr>
              <a:t>    if bmi &lt; 18.5: return 0   # Abaixo do peso</a:t>
            </a:r>
          </a:p>
          <a:p>
            <a:r>
              <a:rPr sz="900">
                <a:solidFill>
                  <a:srgbClr val="CDD6F4"/>
                </a:solidFill>
                <a:latin typeface="Courier New"/>
              </a:rPr>
              <a:t>    elif bmi &lt; 25: return 1   # Normal</a:t>
            </a:r>
          </a:p>
          <a:p>
            <a:r>
              <a:rPr sz="900">
                <a:solidFill>
                  <a:srgbClr val="CDD6F4"/>
                </a:solidFill>
                <a:latin typeface="Courier New"/>
              </a:rPr>
              <a:t>    elif bmi &lt; 30: return 2   # Sobrepeso</a:t>
            </a:r>
          </a:p>
          <a:p>
            <a:r>
              <a:rPr sz="900">
                <a:solidFill>
                  <a:srgbClr val="CDD6F4"/>
                </a:solidFill>
                <a:latin typeface="Courier New"/>
              </a:rPr>
              <a:t>    else:          return 3   # Obesidade</a:t>
            </a:r>
          </a:p>
          <a:p>
            <a:r>
              <a:rPr sz="900">
                <a:solidFill>
                  <a:srgbClr val="CDD6F4"/>
                </a:solidFill>
                <a:latin typeface="Courier New"/>
              </a:rPr>
              <a:t>dados['faixa_imc'] = dados['BMI'].apply(classificar_imc)</a:t>
            </a:r>
          </a:p>
          <a:p>
            <a:r>
              <a:rPr sz="900">
                <a:solidFill>
                  <a:srgbClr val="CDD6F4"/>
                </a:solidFill>
                <a:latin typeface="Courier New"/>
              </a:rPr>
              <a:t/>
            </a:r>
          </a:p>
          <a:p>
            <a:r>
              <a:rPr sz="900">
                <a:solidFill>
                  <a:srgbClr val="CDD6F4"/>
                </a:solidFill>
                <a:latin typeface="Courier New"/>
              </a:rPr>
              <a:t># Feature 4: razão LH/FSH (desequilíbrio hormonal)</a:t>
            </a:r>
          </a:p>
          <a:p>
            <a:r>
              <a:rPr sz="900">
                <a:solidFill>
                  <a:srgbClr val="CDD6F4"/>
                </a:solidFill>
                <a:latin typeface="Courier New"/>
              </a:rPr>
              <a:t>dados['razao_lh_fsh'] = (</a:t>
            </a:r>
          </a:p>
          <a:p>
            <a:r>
              <a:rPr sz="900">
                <a:solidFill>
                  <a:srgbClr val="CDD6F4"/>
                </a:solidFill>
                <a:latin typeface="Courier New"/>
              </a:rPr>
              <a:t>    dados['LH(mIU/mL)'] / (dados['FSH(mIU/mL)'] + 1e-6))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66360" y="804672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D145B"/>
                </a:solidFill>
                <a:latin typeface="Calibri"/>
              </a:rPr>
              <a:t>Por que estas features?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66360" y="1298448"/>
            <a:ext cx="3749039" cy="804672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57800" y="1335024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D145B"/>
                </a:solidFill>
                <a:latin typeface="Calibri"/>
              </a:rPr>
              <a:t>total_foliculos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7800" y="1618488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22222"/>
                </a:solidFill>
                <a:latin typeface="Calibri"/>
              </a:rPr>
              <a:t>Combina info dos dois ovários.
Virou a feature mais importante do RF (18%)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66360" y="2194560"/>
            <a:ext cx="3749039" cy="804672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57800" y="2231136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D145B"/>
                </a:solidFill>
                <a:latin typeface="Calibri"/>
              </a:rPr>
              <a:t>soma_sintomas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2514600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22222"/>
                </a:solidFill>
                <a:latin typeface="Calibri"/>
              </a:rPr>
              <a:t>Sintomas individualmente têm correlação baixa,
mas em conjunto indicam carga de SOP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66360" y="3090672"/>
            <a:ext cx="3749039" cy="804672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57800" y="3127248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D145B"/>
                </a:solidFill>
                <a:latin typeface="Calibri"/>
              </a:rPr>
              <a:t>faixa_imc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7800" y="3410712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22222"/>
                </a:solidFill>
                <a:latin typeface="Calibri"/>
              </a:rPr>
              <a:t>IMC em faixa ordinal dá mais contexto
clínico que o valor numérico bruto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66360" y="3986783"/>
            <a:ext cx="3749039" cy="804672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57800" y="4023359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D145B"/>
                </a:solidFill>
                <a:latin typeface="Calibri"/>
              </a:rPr>
              <a:t>razao_lh_fsh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7800" y="4306823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22222"/>
                </a:solidFill>
                <a:latin typeface="Calibri"/>
              </a:rPr>
              <a:t>Razão LH/FSH &gt; 2 é critério diagnóstico
clássico de SOP na medicina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0"/>
            <a:ext cx="7772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Feature Selection e Divisão Treino/Teste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0"/>
            <a:ext cx="8229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FFCCDD"/>
                </a:solidFill>
                <a:latin typeface="Calibri"/>
              </a:rPr>
              <a:t>8/15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4800600"/>
            <a:ext cx="868680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666666"/>
                </a:solidFill>
                <a:latin typeface="Calibri"/>
              </a:rPr>
              <a:t>FIAP POSTECH — IA para Devs  |  Tech Challenge Fase 1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777240"/>
            <a:ext cx="5029200" cy="38862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868680"/>
            <a:ext cx="4846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CDD6F4"/>
                </a:solidFill>
                <a:latin typeface="Courier New"/>
              </a:rPr>
              <a:t># Feature Selection por correlação com o target</a:t>
            </a:r>
          </a:p>
          <a:p>
            <a:r>
              <a:rPr sz="900">
                <a:solidFill>
                  <a:srgbClr val="CDD6F4"/>
                </a:solidFill>
                <a:latin typeface="Courier New"/>
              </a:rPr>
              <a:t>correlacoes = dados_processado.corr()['PCOS (Y/N)'].abs()</a:t>
            </a:r>
          </a:p>
          <a:p>
            <a:r>
              <a:rPr sz="900">
                <a:solidFill>
                  <a:srgbClr val="CDD6F4"/>
                </a:solidFill>
                <a:latin typeface="Courier New"/>
              </a:rPr>
              <a:t/>
            </a:r>
          </a:p>
          <a:p>
            <a:r>
              <a:rPr sz="900">
                <a:solidFill>
                  <a:srgbClr val="CDD6F4"/>
                </a:solidFill>
                <a:latin typeface="Courier New"/>
              </a:rPr>
              <a:t># Remover features com correlação &lt; 0.05 (pouco poder preditivo)</a:t>
            </a:r>
          </a:p>
          <a:p>
            <a:r>
              <a:rPr sz="900">
                <a:solidFill>
                  <a:srgbClr val="CDD6F4"/>
                </a:solidFill>
                <a:latin typeface="Courier New"/>
              </a:rPr>
              <a:t>LIMIAR = 0.05</a:t>
            </a:r>
          </a:p>
          <a:p>
            <a:r>
              <a:rPr sz="900">
                <a:solidFill>
                  <a:srgbClr val="CDD6F4"/>
                </a:solidFill>
                <a:latin typeface="Courier New"/>
              </a:rPr>
              <a:t>features_removidas = correlacoes[</a:t>
            </a:r>
          </a:p>
          <a:p>
            <a:r>
              <a:rPr sz="900">
                <a:solidFill>
                  <a:srgbClr val="CDD6F4"/>
                </a:solidFill>
                <a:latin typeface="Courier New"/>
              </a:rPr>
              <a:t>    correlacoes &lt; LIMIAR].index.tolist()</a:t>
            </a:r>
          </a:p>
          <a:p>
            <a:r>
              <a:rPr sz="900">
                <a:solidFill>
                  <a:srgbClr val="CDD6F4"/>
                </a:solidFill>
                <a:latin typeface="Courier New"/>
              </a:rPr>
              <a:t># → 14 features removidas: de 45 para 31 features</a:t>
            </a:r>
          </a:p>
          <a:p>
            <a:r>
              <a:rPr sz="900">
                <a:solidFill>
                  <a:srgbClr val="CDD6F4"/>
                </a:solidFill>
                <a:latin typeface="Courier New"/>
              </a:rPr>
              <a:t/>
            </a:r>
          </a:p>
          <a:p>
            <a:r>
              <a:rPr sz="900">
                <a:solidFill>
                  <a:srgbClr val="CDD6F4"/>
                </a:solidFill>
                <a:latin typeface="Courier New"/>
              </a:rPr>
              <a:t>dados_selecionado = dados_processado.drop(</a:t>
            </a:r>
          </a:p>
          <a:p>
            <a:r>
              <a:rPr sz="900">
                <a:solidFill>
                  <a:srgbClr val="CDD6F4"/>
                </a:solidFill>
                <a:latin typeface="Courier New"/>
              </a:rPr>
              <a:t>    columns=features_removidas)</a:t>
            </a:r>
          </a:p>
          <a:p>
            <a:r>
              <a:rPr sz="900">
                <a:solidFill>
                  <a:srgbClr val="CDD6F4"/>
                </a:solidFill>
                <a:latin typeface="Courier New"/>
              </a:rPr>
              <a:t/>
            </a:r>
          </a:p>
          <a:p>
            <a:r>
              <a:rPr sz="900">
                <a:solidFill>
                  <a:srgbClr val="CDD6F4"/>
                </a:solidFill>
                <a:latin typeface="Courier New"/>
              </a:rPr>
              <a:t># Divisão final 80/20 com estratificação</a:t>
            </a:r>
          </a:p>
          <a:p>
            <a:r>
              <a:rPr sz="900">
                <a:solidFill>
                  <a:srgbClr val="CDD6F4"/>
                </a:solidFill>
                <a:latin typeface="Courier New"/>
              </a:rPr>
              <a:t>X = dados_selecionado.drop(columns=['PCOS (Y/N)'])</a:t>
            </a:r>
          </a:p>
          <a:p>
            <a:r>
              <a:rPr sz="900">
                <a:solidFill>
                  <a:srgbClr val="CDD6F4"/>
                </a:solidFill>
                <a:latin typeface="Courier New"/>
              </a:rPr>
              <a:t>y = dados_selecionado['PCOS (Y/N)']</a:t>
            </a:r>
          </a:p>
          <a:p>
            <a:r>
              <a:rPr sz="900">
                <a:solidFill>
                  <a:srgbClr val="CDD6F4"/>
                </a:solidFill>
                <a:latin typeface="Courier New"/>
              </a:rPr>
              <a:t/>
            </a:r>
          </a:p>
          <a:p>
            <a:r>
              <a:rPr sz="900">
                <a:solidFill>
                  <a:srgbClr val="CDD6F4"/>
                </a:solidFill>
                <a:latin typeface="Courier New"/>
              </a:rPr>
              <a:t>X_treino, X_teste, y_treino, y_teste = train_test_split(</a:t>
            </a:r>
          </a:p>
          <a:p>
            <a:r>
              <a:rPr sz="900">
                <a:solidFill>
                  <a:srgbClr val="CDD6F4"/>
                </a:solidFill>
                <a:latin typeface="Courier New"/>
              </a:rPr>
              <a:t>    X, y, test_size=0.2,</a:t>
            </a:r>
          </a:p>
          <a:p>
            <a:r>
              <a:rPr sz="900">
                <a:solidFill>
                  <a:srgbClr val="CDD6F4"/>
                </a:solidFill>
                <a:latin typeface="Courier New"/>
              </a:rPr>
              <a:t>    random_state=42,    # reprodutibilidade</a:t>
            </a:r>
          </a:p>
          <a:p>
            <a:r>
              <a:rPr sz="900">
                <a:solidFill>
                  <a:srgbClr val="CDD6F4"/>
                </a:solidFill>
                <a:latin typeface="Courier New"/>
              </a:rPr>
              <a:t>    stratify=y)         # mantém proporção 67/33 nos dois conjuntos</a:t>
            </a:r>
          </a:p>
          <a:p>
            <a:r>
              <a:rPr sz="900">
                <a:solidFill>
                  <a:srgbClr val="CDD6F4"/>
                </a:solidFill>
                <a:latin typeface="Courier New"/>
              </a:rPr>
              <a:t/>
            </a:r>
          </a:p>
          <a:p>
            <a:r>
              <a:rPr sz="900">
                <a:solidFill>
                  <a:srgbClr val="CDD6F4"/>
                </a:solidFill>
                <a:latin typeface="Courier New"/>
              </a:rPr>
              <a:t>print(f"Treino: {X_treino.shape}")  # (432, 31)</a:t>
            </a:r>
          </a:p>
          <a:p>
            <a:r>
              <a:rPr sz="900">
                <a:solidFill>
                  <a:srgbClr val="CDD6F4"/>
                </a:solidFill>
                <a:latin typeface="Courier New"/>
              </a:rPr>
              <a:t>print(f"Teste:  {X_teste.shape}")   # (109, 31)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0" y="804672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D145B"/>
                </a:solidFill>
                <a:latin typeface="Calibri"/>
              </a:rPr>
              <a:t>Resultado da Seleção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94960" y="1298448"/>
            <a:ext cx="3520440" cy="804672"/>
          </a:xfrm>
          <a:prstGeom prst="rect">
            <a:avLst/>
          </a:prstGeom>
          <a:solidFill>
            <a:srgbClr val="FDE8EE"/>
          </a:solidFill>
          <a:ln w="9525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94960" y="1344168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D145B"/>
                </a:solidFill>
                <a:latin typeface="Calibri"/>
              </a:rPr>
              <a:t>45 → 31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1719072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22222"/>
                </a:solidFill>
                <a:latin typeface="Calibri"/>
              </a:rPr>
              <a:t>features após seleção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94960" y="2185415"/>
            <a:ext cx="3520440" cy="804672"/>
          </a:xfrm>
          <a:prstGeom prst="rect">
            <a:avLst/>
          </a:prstGeom>
          <a:solidFill>
            <a:srgbClr val="FDE8EE"/>
          </a:solidFill>
          <a:ln w="9525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60" y="2231135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D145B"/>
                </a:solidFill>
                <a:latin typeface="Calibri"/>
              </a:rPr>
              <a:t>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2606039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22222"/>
                </a:solidFill>
                <a:latin typeface="Calibri"/>
              </a:rPr>
              <a:t>features removidas
(corr &lt; 0.05)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94960" y="3072383"/>
            <a:ext cx="3520440" cy="804672"/>
          </a:xfrm>
          <a:prstGeom prst="rect">
            <a:avLst/>
          </a:prstGeom>
          <a:solidFill>
            <a:srgbClr val="FDE8EE"/>
          </a:solidFill>
          <a:ln w="9525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4960" y="3118103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D145B"/>
                </a:solidFill>
                <a:latin typeface="Calibri"/>
              </a:rPr>
              <a:t>432 / 109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0" y="3493007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22222"/>
                </a:solidFill>
                <a:latin typeface="Calibri"/>
              </a:rPr>
              <a:t>amostras treino / teste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94960" y="3959351"/>
            <a:ext cx="3520440" cy="804672"/>
          </a:xfrm>
          <a:prstGeom prst="rect">
            <a:avLst/>
          </a:prstGeom>
          <a:solidFill>
            <a:srgbClr val="FDE8EE"/>
          </a:solidFill>
          <a:ln w="9525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94960" y="4005071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D145B"/>
                </a:solidFill>
                <a:latin typeface="Calibri"/>
              </a:rPr>
              <a:t>stratify=y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4379975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22222"/>
                </a:solidFill>
                <a:latin typeface="Calibri"/>
              </a:rPr>
              <a:t>proporção 67/33 mantida
nos dois conjuntos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0"/>
            <a:ext cx="7772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Por que Recall é a Métrica Prioritária?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0"/>
            <a:ext cx="8229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FFCCDD"/>
                </a:solidFill>
                <a:latin typeface="Calibri"/>
              </a:rPr>
              <a:t>9/15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4800600"/>
            <a:ext cx="868680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666666"/>
                </a:solidFill>
                <a:latin typeface="Calibri"/>
              </a:rPr>
              <a:t>FIAP POSTECH — IA para Devs  |  Tech Challenge Fase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804672"/>
            <a:ext cx="8686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22222"/>
                </a:solidFill>
                <a:latin typeface="Calibri"/>
              </a:rPr>
              <a:t>Matriz de Confusão — Impacto Clínico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0" y="1325880"/>
            <a:ext cx="2286000" cy="502920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1325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Previsto: SEM SOP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325880"/>
            <a:ext cx="2286000" cy="502920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1325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Previsto: COM SOP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1828800"/>
            <a:ext cx="1783080" cy="6858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8600" y="1828800"/>
            <a:ext cx="1783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22222"/>
                </a:solidFill>
                <a:latin typeface="Calibri"/>
              </a:rPr>
              <a:t>Real:
SEM SOP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2514600"/>
            <a:ext cx="1783080" cy="6858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" y="2514600"/>
            <a:ext cx="1783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22222"/>
                </a:solidFill>
                <a:latin typeface="Calibri"/>
              </a:rPr>
              <a:t>Real:
COM SOP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11680" y="1828800"/>
            <a:ext cx="2286000" cy="68580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11680" y="182880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2222"/>
                </a:solidFill>
                <a:latin typeface="Calibri"/>
              </a:rPr>
              <a:t>✓ Verdadeiro Negativo
(TN)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1828800"/>
            <a:ext cx="2286000" cy="685800"/>
          </a:xfrm>
          <a:prstGeom prst="rect">
            <a:avLst/>
          </a:prstGeom>
          <a:solidFill>
            <a:srgbClr val="FFF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0" y="182880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06000"/>
                </a:solidFill>
                <a:latin typeface="Calibri"/>
              </a:rPr>
              <a:t>⚠ Falso Positivo (FP)
Exame adicional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11680" y="2514600"/>
            <a:ext cx="2286000" cy="6858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11680" y="251460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AA0000"/>
                </a:solidFill>
                <a:latin typeface="Calibri"/>
              </a:rPr>
              <a:t>✗ FALSO NEGATIVO (FN)
SOP não detectada!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0" y="2514600"/>
            <a:ext cx="2286000" cy="68580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0" y="251460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2222"/>
                </a:solidFill>
                <a:latin typeface="Calibri"/>
              </a:rPr>
              <a:t>✓ Verdadeiro Positivo
(TP)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20840" y="1325880"/>
            <a:ext cx="2240280" cy="1874519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20840" y="1353312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D145B"/>
                </a:solidFill>
                <a:latin typeface="Calibri"/>
              </a:rPr>
              <a:t>Fórmulas-chave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1737360"/>
            <a:ext cx="21488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ourier New"/>
              </a:rPr>
              <a:t>Recall = TP / (TP + FN)
Precision = TP / (TP + FP)
F1 = 2 · (P · R) / (P + R)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8600" y="3337560"/>
            <a:ext cx="8686800" cy="1298448"/>
          </a:xfrm>
          <a:prstGeom prst="rect">
            <a:avLst/>
          </a:prstGeom>
          <a:solidFill>
            <a:srgbClr val="FDE8EE"/>
          </a:solidFill>
          <a:ln w="127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3364992"/>
            <a:ext cx="85039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Falso Negativo = paciente com SOP classificada como saudável
→ Consequência: sem tratamento → infertilidade, diabetes, risco cardiovascular
Falso Positivo = saudável classificada com SOP → apenas um exame confirmatório a mais
Por isso: maximizamos Recall, não Acurácia. Usamos class_weight='balanced' em todos os modelos.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0"/>
            <a:ext cx="7772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Os 4 Modelos Treinados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0"/>
            <a:ext cx="8229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FFCCDD"/>
                </a:solidFill>
                <a:latin typeface="Calibri"/>
              </a:rPr>
              <a:t>10/15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4800600"/>
            <a:ext cx="868680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666666"/>
                </a:solidFill>
                <a:latin typeface="Calibri"/>
              </a:rPr>
              <a:t>FIAP POSTECH — IA para Devs  |  Tech Challenge Fase 1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777240"/>
            <a:ext cx="5303520" cy="38862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868680"/>
            <a:ext cx="51206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CDD6F4"/>
                </a:solidFill>
                <a:latin typeface="Courier New"/>
              </a:rPr>
              <a:t>from sklearn.linear_model import LogisticRegression</a:t>
            </a:r>
          </a:p>
          <a:p>
            <a:r>
              <a:rPr sz="900">
                <a:solidFill>
                  <a:srgbClr val="CDD6F4"/>
                </a:solidFill>
                <a:latin typeface="Courier New"/>
              </a:rPr>
              <a:t>from sklearn.tree import DecisionTreeClassifier</a:t>
            </a:r>
          </a:p>
          <a:p>
            <a:r>
              <a:rPr sz="900">
                <a:solidFill>
                  <a:srgbClr val="CDD6F4"/>
                </a:solidFill>
                <a:latin typeface="Courier New"/>
              </a:rPr>
              <a:t>from sklearn.ensemble import RandomForestClassifier</a:t>
            </a:r>
          </a:p>
          <a:p>
            <a:r>
              <a:rPr sz="900">
                <a:solidFill>
                  <a:srgbClr val="CDD6F4"/>
                </a:solidFill>
                <a:latin typeface="Courier New"/>
              </a:rPr>
              <a:t>from sklearn.neighbors import KNeighborsClassifier</a:t>
            </a:r>
          </a:p>
          <a:p>
            <a:r>
              <a:rPr sz="900">
                <a:solidFill>
                  <a:srgbClr val="CDD6F4"/>
                </a:solidFill>
                <a:latin typeface="Courier New"/>
              </a:rPr>
              <a:t/>
            </a:r>
          </a:p>
          <a:p>
            <a:r>
              <a:rPr sz="900">
                <a:solidFill>
                  <a:srgbClr val="CDD6F4"/>
                </a:solidFill>
                <a:latin typeface="Courier New"/>
              </a:rPr>
              <a:t>SEMENTE = 42</a:t>
            </a:r>
          </a:p>
          <a:p>
            <a:r>
              <a:rPr sz="900">
                <a:solidFill>
                  <a:srgbClr val="CDD6F4"/>
                </a:solidFill>
                <a:latin typeface="Courier New"/>
              </a:rPr>
              <a:t/>
            </a:r>
          </a:p>
          <a:p>
            <a:r>
              <a:rPr sz="900">
                <a:solidFill>
                  <a:srgbClr val="CDD6F4"/>
                </a:solidFill>
                <a:latin typeface="Courier New"/>
              </a:rPr>
              <a:t># Dicionário com os 4 modelos — iterar facilita comparação</a:t>
            </a:r>
          </a:p>
          <a:p>
            <a:r>
              <a:rPr sz="900">
                <a:solidFill>
                  <a:srgbClr val="CDD6F4"/>
                </a:solidFill>
                <a:latin typeface="Courier New"/>
              </a:rPr>
              <a:t>modelos = {</a:t>
            </a:r>
          </a:p>
          <a:p>
            <a:r>
              <a:rPr sz="900">
                <a:solidFill>
                  <a:srgbClr val="CDD6F4"/>
                </a:solidFill>
                <a:latin typeface="Courier New"/>
              </a:rPr>
              <a:t>    'Regressão Logística': LogisticRegression(</a:t>
            </a:r>
          </a:p>
          <a:p>
            <a:r>
              <a:rPr sz="900">
                <a:solidFill>
                  <a:srgbClr val="CDD6F4"/>
                </a:solidFill>
                <a:latin typeface="Courier New"/>
              </a:rPr>
              <a:t>        max_iter=1000, random_state=SEMENTE,</a:t>
            </a:r>
          </a:p>
          <a:p>
            <a:r>
              <a:rPr sz="900">
                <a:solidFill>
                  <a:srgbClr val="CDD6F4"/>
                </a:solidFill>
                <a:latin typeface="Courier New"/>
              </a:rPr>
              <a:t>        class_weight='balanced'),</a:t>
            </a:r>
          </a:p>
          <a:p>
            <a:r>
              <a:rPr sz="900">
                <a:solidFill>
                  <a:srgbClr val="CDD6F4"/>
                </a:solidFill>
                <a:latin typeface="Courier New"/>
              </a:rPr>
              <a:t/>
            </a:r>
          </a:p>
          <a:p>
            <a:r>
              <a:rPr sz="900">
                <a:solidFill>
                  <a:srgbClr val="CDD6F4"/>
                </a:solidFill>
                <a:latin typeface="Courier New"/>
              </a:rPr>
              <a:t>    'Árvore de Decisão': DecisionTreeClassifier(</a:t>
            </a:r>
          </a:p>
          <a:p>
            <a:r>
              <a:rPr sz="900">
                <a:solidFill>
                  <a:srgbClr val="CDD6F4"/>
                </a:solidFill>
                <a:latin typeface="Courier New"/>
              </a:rPr>
              <a:t>        random_state=SEMENTE,</a:t>
            </a:r>
          </a:p>
          <a:p>
            <a:r>
              <a:rPr sz="900">
                <a:solidFill>
                  <a:srgbClr val="CDD6F4"/>
                </a:solidFill>
                <a:latin typeface="Courier New"/>
              </a:rPr>
              <a:t>        class_weight='balanced'),</a:t>
            </a:r>
          </a:p>
          <a:p>
            <a:r>
              <a:rPr sz="900">
                <a:solidFill>
                  <a:srgbClr val="CDD6F4"/>
                </a:solidFill>
                <a:latin typeface="Courier New"/>
              </a:rPr>
              <a:t/>
            </a:r>
          </a:p>
          <a:p>
            <a:r>
              <a:rPr sz="900">
                <a:solidFill>
                  <a:srgbClr val="CDD6F4"/>
                </a:solidFill>
                <a:latin typeface="Courier New"/>
              </a:rPr>
              <a:t>    'Random Forest': RandomForestClassifier(</a:t>
            </a:r>
          </a:p>
          <a:p>
            <a:r>
              <a:rPr sz="900">
                <a:solidFill>
                  <a:srgbClr val="CDD6F4"/>
                </a:solidFill>
                <a:latin typeface="Courier New"/>
              </a:rPr>
              <a:t>        n_estimators=100, random_state=SEMENTE,</a:t>
            </a:r>
          </a:p>
          <a:p>
            <a:r>
              <a:rPr sz="900">
                <a:solidFill>
                  <a:srgbClr val="CDD6F4"/>
                </a:solidFill>
                <a:latin typeface="Courier New"/>
              </a:rPr>
              <a:t>        class_weight='balanced'),</a:t>
            </a:r>
          </a:p>
          <a:p>
            <a:r>
              <a:rPr sz="900">
                <a:solidFill>
                  <a:srgbClr val="CDD6F4"/>
                </a:solidFill>
                <a:latin typeface="Courier New"/>
              </a:rPr>
              <a:t/>
            </a:r>
          </a:p>
          <a:p>
            <a:r>
              <a:rPr sz="900">
                <a:solidFill>
                  <a:srgbClr val="CDD6F4"/>
                </a:solidFill>
                <a:latin typeface="Courier New"/>
              </a:rPr>
              <a:t>    'KNN (k=5)': KNeighborsClassifier(n_neighbors=5),</a:t>
            </a:r>
          </a:p>
          <a:p>
            <a:r>
              <a:rPr sz="900">
                <a:solidFill>
                  <a:srgbClr val="CDD6F4"/>
                </a:solidFill>
                <a:latin typeface="Courier New"/>
              </a:rPr>
              <a:t>}</a:t>
            </a:r>
          </a:p>
          <a:p>
            <a:r>
              <a:rPr sz="900">
                <a:solidFill>
                  <a:srgbClr val="CDD6F4"/>
                </a:solidFill>
                <a:latin typeface="Courier New"/>
              </a:rPr>
              <a:t/>
            </a:r>
          </a:p>
          <a:p>
            <a:r>
              <a:rPr sz="900">
                <a:solidFill>
                  <a:srgbClr val="CDD6F4"/>
                </a:solidFill>
                <a:latin typeface="Courier New"/>
              </a:rPr>
              <a:t># Treinar e avaliar cada modelo</a:t>
            </a:r>
          </a:p>
          <a:p>
            <a:r>
              <a:rPr sz="900">
                <a:solidFill>
                  <a:srgbClr val="CDD6F4"/>
                </a:solidFill>
                <a:latin typeface="Courier New"/>
              </a:rPr>
              <a:t>resultados = {}</a:t>
            </a:r>
          </a:p>
          <a:p>
            <a:r>
              <a:rPr sz="900">
                <a:solidFill>
                  <a:srgbClr val="CDD6F4"/>
                </a:solidFill>
                <a:latin typeface="Courier New"/>
              </a:rPr>
              <a:t>for nome, modelo in modelos.items():</a:t>
            </a:r>
          </a:p>
          <a:p>
            <a:r>
              <a:rPr sz="900">
                <a:solidFill>
                  <a:srgbClr val="CDD6F4"/>
                </a:solidFill>
                <a:latin typeface="Courier New"/>
              </a:rPr>
              <a:t>    modelo.fit(X_treino, y_treino)</a:t>
            </a:r>
          </a:p>
          <a:p>
            <a:r>
              <a:rPr sz="900">
                <a:solidFill>
                  <a:srgbClr val="CDD6F4"/>
                </a:solidFill>
                <a:latin typeface="Courier New"/>
              </a:rPr>
              <a:t>    previsoes = modelo.predict(X_teste)</a:t>
            </a:r>
          </a:p>
          <a:p>
            <a:r>
              <a:rPr sz="900">
                <a:solidFill>
                  <a:srgbClr val="CDD6F4"/>
                </a:solidFill>
                <a:latin typeface="Courier New"/>
              </a:rPr>
              <a:t>    resultados[nome] = classification_report(</a:t>
            </a:r>
          </a:p>
          <a:p>
            <a:r>
              <a:rPr sz="900">
                <a:solidFill>
                  <a:srgbClr val="CDD6F4"/>
                </a:solidFill>
                <a:latin typeface="Courier New"/>
              </a:rPr>
              <a:t>        y_teste, previsoes, output_dict=True)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80467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D145B"/>
                </a:solidFill>
                <a:latin typeface="Calibri"/>
              </a:rPr>
              <a:t>Por que estes modelos?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0" y="1280160"/>
            <a:ext cx="3291840" cy="77724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0" y="1316736"/>
            <a:ext cx="1188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ED145B"/>
                </a:solidFill>
                <a:latin typeface="Calibri"/>
              </a:rPr>
              <a:t>Regressão
Logística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316736"/>
            <a:ext cx="2057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22222"/>
                </a:solidFill>
                <a:latin typeface="Calibri"/>
              </a:rPr>
              <a:t>Baseline interpretável.
Coeficientes indicam direção
e magnitude de cada feature.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0" y="2139696"/>
            <a:ext cx="3291840" cy="77724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0" y="2176272"/>
            <a:ext cx="1188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ED145B"/>
                </a:solidFill>
                <a:latin typeface="Calibri"/>
              </a:rPr>
              <a:t>Árvore de
Decisão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176272"/>
            <a:ext cx="2057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22222"/>
                </a:solidFill>
                <a:latin typeface="Calibri"/>
              </a:rPr>
              <a:t>Visualmente interpretável.
Regras explícitas de decisão.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0" y="2999232"/>
            <a:ext cx="3291840" cy="77724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0" y="3035808"/>
            <a:ext cx="1188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ED145B"/>
                </a:solidFill>
                <a:latin typeface="Calibri"/>
              </a:rPr>
              <a:t>Random
Forest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3035808"/>
            <a:ext cx="2057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22222"/>
                </a:solidFill>
                <a:latin typeface="Calibri"/>
              </a:rPr>
              <a:t>Ensemble robusto. Reduz
overfitting com 100 árvores.
Melhor acurácia e F1.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0" y="3858768"/>
            <a:ext cx="3291840" cy="77724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0" y="3895344"/>
            <a:ext cx="1188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ED145B"/>
                </a:solidFill>
                <a:latin typeface="Calibri"/>
              </a:rPr>
              <a:t>KNN (k=5)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3895344"/>
            <a:ext cx="2057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22222"/>
                </a:solidFill>
                <a:latin typeface="Calibri"/>
              </a:rPr>
              <a:t>Baseado em distância.
Não-paramétrico. Serve de
contraste com os outros.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0"/>
            <a:ext cx="7772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Resultados — Comparação dos 4 Modelos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0"/>
            <a:ext cx="8229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FFCCDD"/>
                </a:solidFill>
                <a:latin typeface="Calibri"/>
              </a:rPr>
              <a:t>11/15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4800600"/>
            <a:ext cx="868680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666666"/>
                </a:solidFill>
                <a:latin typeface="Calibri"/>
              </a:rPr>
              <a:t>FIAP POSTECH — IA para Devs  |  Tech Challenge Fase 1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804672"/>
            <a:ext cx="2194560" cy="457200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859536"/>
            <a:ext cx="21214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Modelo</a:t>
            </a:r>
          </a:p>
        </p:txBody>
      </p:sp>
      <p:sp>
        <p:nvSpPr>
          <p:cNvPr id="9" name="Rectangle 8"/>
          <p:cNvSpPr/>
          <p:nvPr/>
        </p:nvSpPr>
        <p:spPr>
          <a:xfrm>
            <a:off x="2423160" y="804672"/>
            <a:ext cx="1463040" cy="457200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68879" y="859536"/>
            <a:ext cx="1389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Acurácia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86200" y="804672"/>
            <a:ext cx="1463040" cy="457200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31920" y="859536"/>
            <a:ext cx="1389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Recall 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49240" y="804672"/>
            <a:ext cx="1463040" cy="457200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59" y="859536"/>
            <a:ext cx="1389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F1-Score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12279" y="804672"/>
            <a:ext cx="1463040" cy="457200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7999" y="859536"/>
            <a:ext cx="1389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AUC-ROC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1261872"/>
            <a:ext cx="2194560" cy="548640"/>
          </a:xfrm>
          <a:prstGeom prst="rect">
            <a:avLst/>
          </a:prstGeom>
          <a:solidFill>
            <a:srgbClr val="FDE8E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1353312"/>
            <a:ext cx="21214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Regressão Logística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1261872"/>
            <a:ext cx="1463040" cy="548640"/>
          </a:xfrm>
          <a:prstGeom prst="rect">
            <a:avLst/>
          </a:prstGeom>
          <a:solidFill>
            <a:srgbClr val="FDE8E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68879" y="1353312"/>
            <a:ext cx="13898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  <a:latin typeface="Calibri"/>
              </a:rPr>
              <a:t>89.91%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86200" y="1261872"/>
            <a:ext cx="1463040" cy="548640"/>
          </a:xfrm>
          <a:prstGeom prst="rect">
            <a:avLst/>
          </a:prstGeom>
          <a:solidFill>
            <a:srgbClr val="FDE8E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31920" y="1353312"/>
            <a:ext cx="13898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D145B"/>
                </a:solidFill>
                <a:latin typeface="Calibri"/>
              </a:rPr>
              <a:t>88.89%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49240" y="1261872"/>
            <a:ext cx="1463040" cy="548640"/>
          </a:xfrm>
          <a:prstGeom prst="rect">
            <a:avLst/>
          </a:prstGeom>
          <a:solidFill>
            <a:srgbClr val="FDE8E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94959" y="1353312"/>
            <a:ext cx="13898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  <a:latin typeface="Calibri"/>
              </a:rPr>
              <a:t>85.33%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12279" y="1261872"/>
            <a:ext cx="1463040" cy="548640"/>
          </a:xfrm>
          <a:prstGeom prst="rect">
            <a:avLst/>
          </a:prstGeom>
          <a:solidFill>
            <a:srgbClr val="FDE8E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7999" y="1353312"/>
            <a:ext cx="13898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  <a:latin typeface="Calibri"/>
              </a:rPr>
              <a:t>0.9631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8600" y="1828800"/>
            <a:ext cx="21945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1920240"/>
            <a:ext cx="21214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Árvore de Decisão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23160" y="1828800"/>
            <a:ext cx="14630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468879" y="1920240"/>
            <a:ext cx="13898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  <a:latin typeface="Calibri"/>
              </a:rPr>
              <a:t>86.24%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86200" y="1828800"/>
            <a:ext cx="14630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31920" y="1920240"/>
            <a:ext cx="13898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  <a:latin typeface="Calibri"/>
              </a:rPr>
              <a:t>80.56%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49240" y="1828800"/>
            <a:ext cx="14630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94959" y="1920240"/>
            <a:ext cx="13898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  <a:latin typeface="Calibri"/>
              </a:rPr>
              <a:t>79.45%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12279" y="1828800"/>
            <a:ext cx="14630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7999" y="1920240"/>
            <a:ext cx="13898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  <a:latin typeface="Calibri"/>
              </a:rPr>
              <a:t>0.8701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8600" y="2395728"/>
            <a:ext cx="2194560" cy="548640"/>
          </a:xfrm>
          <a:prstGeom prst="rect">
            <a:avLst/>
          </a:prstGeom>
          <a:solidFill>
            <a:srgbClr val="F7F7F7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" y="2487168"/>
            <a:ext cx="21214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Random Forest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423160" y="2395728"/>
            <a:ext cx="1463040" cy="548640"/>
          </a:xfrm>
          <a:prstGeom prst="rect">
            <a:avLst/>
          </a:prstGeom>
          <a:solidFill>
            <a:srgbClr val="F7F7F7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468879" y="2487168"/>
            <a:ext cx="13898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D145B"/>
                </a:solidFill>
                <a:latin typeface="Calibri"/>
              </a:rPr>
              <a:t>93.58%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86200" y="2395728"/>
            <a:ext cx="1463040" cy="548640"/>
          </a:xfrm>
          <a:prstGeom prst="rect">
            <a:avLst/>
          </a:prstGeom>
          <a:solidFill>
            <a:srgbClr val="F7F7F7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931920" y="2487168"/>
            <a:ext cx="13898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  <a:latin typeface="Calibri"/>
              </a:rPr>
              <a:t>83.33%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349240" y="2395728"/>
            <a:ext cx="1463040" cy="548640"/>
          </a:xfrm>
          <a:prstGeom prst="rect">
            <a:avLst/>
          </a:prstGeom>
          <a:solidFill>
            <a:srgbClr val="F7F7F7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394959" y="2487168"/>
            <a:ext cx="13898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  <a:latin typeface="Calibri"/>
              </a:rPr>
              <a:t>89.55%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812279" y="2395728"/>
            <a:ext cx="1463040" cy="548640"/>
          </a:xfrm>
          <a:prstGeom prst="rect">
            <a:avLst/>
          </a:prstGeom>
          <a:solidFill>
            <a:srgbClr val="F7F7F7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7999" y="2487168"/>
            <a:ext cx="13898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  <a:latin typeface="Calibri"/>
              </a:rPr>
              <a:t>0.9505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28600" y="2962656"/>
            <a:ext cx="21945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3054096"/>
            <a:ext cx="21214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KNN (k=5)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423160" y="2962656"/>
            <a:ext cx="14630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468879" y="3054096"/>
            <a:ext cx="13898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  <a:latin typeface="Calibri"/>
              </a:rPr>
              <a:t>90.83%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886200" y="2962656"/>
            <a:ext cx="14630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931920" y="3054096"/>
            <a:ext cx="13898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  <a:latin typeface="Calibri"/>
              </a:rPr>
              <a:t>77.78%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349240" y="2962656"/>
            <a:ext cx="14630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394959" y="3054096"/>
            <a:ext cx="13898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  <a:latin typeface="Calibri"/>
              </a:rPr>
              <a:t>84.85%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812279" y="2962656"/>
            <a:ext cx="14630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57999" y="3054096"/>
            <a:ext cx="13898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  <a:latin typeface="Calibri"/>
              </a:rPr>
              <a:t>0.9614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28600" y="3108960"/>
            <a:ext cx="8686800" cy="86868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20040" y="3145536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Calibri"/>
              </a:rPr>
              <a:t>Validação Cruzada K-Fold (k=5) — F1-Score médio: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20040" y="3493008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Random Forest: 82.89% ± 3.25%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468880" y="3493008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KNN: 82.44% ± 5.68%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617720" y="3493008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Reg. Logística: 80.34% ± 4.79%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766560" y="3493008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Árv. Decisão: 76.69% ± 5.75%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28600" y="4069080"/>
            <a:ext cx="8686800" cy="566928"/>
          </a:xfrm>
          <a:prstGeom prst="rect">
            <a:avLst/>
          </a:prstGeom>
          <a:solidFill>
            <a:srgbClr val="FD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20040" y="4105656"/>
            <a:ext cx="8503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★ Regressão Logística: melhor Recall (88.89%) — prioridade clínica  |  Random Forest: melhor Acurácia (93.58%) e F1 (89.55%)  |  AUC-ROC &gt; 0.93 em 3 dos 4 modelos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0"/>
            <a:ext cx="7772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Matrizes de Confusão e Curvas ROC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0"/>
            <a:ext cx="8229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FFCCDD"/>
                </a:solidFill>
                <a:latin typeface="Calibri"/>
              </a:rPr>
              <a:t>12/15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4800600"/>
            <a:ext cx="868680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666666"/>
                </a:solidFill>
                <a:latin typeface="Calibri"/>
              </a:rPr>
              <a:t>FIAP POSTECH — IA para Devs  |  Tech Challenge Fase 1</a:t>
            </a:r>
          </a:p>
        </p:txBody>
      </p:sp>
      <p:pic>
        <p:nvPicPr>
          <p:cNvPr id="7" name="Picture 6" descr="07_matrizes_confus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2158765"/>
            <a:ext cx="4572000" cy="1114004"/>
          </a:xfrm>
          <a:prstGeom prst="rect">
            <a:avLst/>
          </a:prstGeom>
        </p:spPr>
      </p:pic>
      <p:pic>
        <p:nvPicPr>
          <p:cNvPr id="8" name="Picture 7" descr="08_curvas_r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866382"/>
            <a:ext cx="4251960" cy="369877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0"/>
            <a:ext cx="7772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Feature Importance — Random Forest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0"/>
            <a:ext cx="8229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FFCCDD"/>
                </a:solidFill>
                <a:latin typeface="Calibri"/>
              </a:rPr>
              <a:t>13/15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4800600"/>
            <a:ext cx="868680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666666"/>
                </a:solidFill>
                <a:latin typeface="Calibri"/>
              </a:rPr>
              <a:t>FIAP POSTECH — IA para Devs  |  Tech Challenge Fase 1</a:t>
            </a:r>
          </a:p>
        </p:txBody>
      </p:sp>
      <p:pic>
        <p:nvPicPr>
          <p:cNvPr id="7" name="Picture 6" descr="09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937768"/>
            <a:ext cx="5120640" cy="355599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94960" y="804672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D145B"/>
                </a:solidFill>
                <a:latin typeface="Calibri"/>
              </a:rPr>
              <a:t>Top 6 Features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394960" y="1298448"/>
            <a:ext cx="3520440" cy="512064"/>
          </a:xfrm>
          <a:prstGeom prst="rect">
            <a:avLst/>
          </a:prstGeom>
          <a:solidFill>
            <a:srgbClr val="FDE8EE"/>
          </a:solidFill>
          <a:ln w="9525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40680" y="1389888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66666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137160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D145B"/>
                </a:solidFill>
                <a:latin typeface="Calibri"/>
              </a:rPr>
              <a:t>total_foliculos 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138988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ED145B"/>
                </a:solidFill>
                <a:latin typeface="Calibri"/>
              </a:rPr>
              <a:t>18.17%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94960" y="1865376"/>
            <a:ext cx="3520440" cy="512064"/>
          </a:xfrm>
          <a:prstGeom prst="rect">
            <a:avLst/>
          </a:prstGeom>
          <a:solidFill>
            <a:srgbClr val="F7F7F7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40680" y="1956816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66666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6440" y="193852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Follicle No. 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1956816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ED145B"/>
                </a:solidFill>
                <a:latin typeface="Calibri"/>
              </a:rPr>
              <a:t>14.91%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94960" y="2432304"/>
            <a:ext cx="3520440" cy="512064"/>
          </a:xfrm>
          <a:prstGeom prst="rect">
            <a:avLst/>
          </a:prstGeom>
          <a:solidFill>
            <a:srgbClr val="FDE8EE"/>
          </a:solidFill>
          <a:ln w="9525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40680" y="2523744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66666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2505456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D145B"/>
                </a:solidFill>
                <a:latin typeface="Calibri"/>
              </a:rPr>
              <a:t>soma_sintomas 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2523744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ED145B"/>
                </a:solidFill>
                <a:latin typeface="Calibri"/>
              </a:rPr>
              <a:t>10.25%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94960" y="2999232"/>
            <a:ext cx="3520440" cy="512064"/>
          </a:xfrm>
          <a:prstGeom prst="rect">
            <a:avLst/>
          </a:prstGeom>
          <a:solidFill>
            <a:srgbClr val="F7F7F7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40680" y="3090672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66666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06440" y="3072384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Follicle No. 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18120" y="3090672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ED145B"/>
                </a:solidFill>
                <a:latin typeface="Calibri"/>
              </a:rPr>
              <a:t>8.61%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94960" y="3566160"/>
            <a:ext cx="3520440" cy="512064"/>
          </a:xfrm>
          <a:prstGeom prst="rect">
            <a:avLst/>
          </a:prstGeom>
          <a:solidFill>
            <a:srgbClr val="F7F7F7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40680" y="365760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66666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06440" y="363931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AMH (ng/mL)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18120" y="365760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ED145B"/>
                </a:solidFill>
                <a:latin typeface="Calibri"/>
              </a:rPr>
              <a:t>7.84%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94960" y="4133088"/>
            <a:ext cx="3520440" cy="512064"/>
          </a:xfrm>
          <a:prstGeom prst="rect">
            <a:avLst/>
          </a:prstGeom>
          <a:solidFill>
            <a:srgbClr val="F7F7F7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40680" y="4224528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66666"/>
                </a:solidFill>
                <a:latin typeface="Calibri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06440" y="420624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FSH/LH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18120" y="422452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ED145B"/>
                </a:solidFill>
                <a:latin typeface="Calibri"/>
              </a:rPr>
              <a:t>6.12%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94960" y="466344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66666"/>
                </a:solidFill>
                <a:latin typeface="Calibri"/>
              </a:rPr>
              <a:t>★ = feature criada no Feature Engineering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0"/>
            <a:ext cx="7772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Explicabilidade com SHAP Values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0"/>
            <a:ext cx="8229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FFCCDD"/>
                </a:solidFill>
                <a:latin typeface="Calibri"/>
              </a:rPr>
              <a:t>14/15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4800600"/>
            <a:ext cx="868680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666666"/>
                </a:solidFill>
                <a:latin typeface="Calibri"/>
              </a:rPr>
              <a:t>FIAP POSTECH — IA para Devs  |  Tech Challenge Fase 1</a:t>
            </a:r>
          </a:p>
        </p:txBody>
      </p:sp>
      <p:pic>
        <p:nvPicPr>
          <p:cNvPr id="7" name="Picture 6" descr="10_shap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871434"/>
            <a:ext cx="3017520" cy="3688667"/>
          </a:xfrm>
          <a:prstGeom prst="rect">
            <a:avLst/>
          </a:prstGeom>
        </p:spPr>
      </p:pic>
      <p:pic>
        <p:nvPicPr>
          <p:cNvPr id="8" name="Picture 7" descr="11_shap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979030"/>
            <a:ext cx="2926080" cy="3473475"/>
          </a:xfrm>
          <a:prstGeom prst="rect">
            <a:avLst/>
          </a:prstGeom>
        </p:spPr>
      </p:pic>
      <p:pic>
        <p:nvPicPr>
          <p:cNvPr id="9" name="Picture 8" descr="12_shap_waterf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579986"/>
            <a:ext cx="2834640" cy="227156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00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Conclusão e Limitações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13232"/>
            <a:ext cx="8412480" cy="36576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841248"/>
            <a:ext cx="4114800" cy="3749039"/>
          </a:xfrm>
          <a:prstGeom prst="rect">
            <a:avLst/>
          </a:prstGeom>
          <a:solidFill>
            <a:srgbClr val="22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63440" y="841248"/>
            <a:ext cx="4251960" cy="3749039"/>
          </a:xfrm>
          <a:prstGeom prst="rect">
            <a:avLst/>
          </a:prstGeom>
          <a:solidFill>
            <a:srgbClr val="22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877824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D145B"/>
                </a:solidFill>
                <a:latin typeface="Calibri"/>
              </a:rPr>
              <a:t>✓ Conquistas do Projeto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877824"/>
            <a:ext cx="4069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D145B"/>
                </a:solidFill>
                <a:latin typeface="Calibri"/>
              </a:rPr>
              <a:t>⚠ Limitações e Próximos Passos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53312"/>
            <a:ext cx="3931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DDDDD"/>
                </a:solidFill>
                <a:latin typeface="Calibri"/>
              </a:rPr>
              <a:t>→ Pipeline ML completo e reprodutível (seed=42)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47088"/>
            <a:ext cx="3931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DDDDD"/>
                </a:solidFill>
                <a:latin typeface="Calibri"/>
              </a:rPr>
              <a:t>→ 4 modelos treinados e comparados sistematicamente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40864"/>
            <a:ext cx="3931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DDDDD"/>
                </a:solidFill>
                <a:latin typeface="Calibri"/>
              </a:rPr>
              <a:t>→ Feature Engineering validado: top 1 e 3 do RF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834640"/>
            <a:ext cx="3931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DDDDD"/>
                </a:solidFill>
                <a:latin typeface="Calibri"/>
              </a:rPr>
              <a:t>→ Recall de 88.89% — apenas 4 FN em 36 casos positivos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328416"/>
            <a:ext cx="3931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DDDDD"/>
                </a:solidFill>
                <a:latin typeface="Calibri"/>
              </a:rPr>
              <a:t>→ Explicabilidade com SHAP — pronto para uso clínico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822191"/>
            <a:ext cx="3931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DDDDD"/>
                </a:solidFill>
                <a:latin typeface="Calibri"/>
              </a:rPr>
              <a:t>→ AUC-ROC &gt; 0.95 nos 3 melhores modelos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1353312"/>
            <a:ext cx="4069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DDDDD"/>
                </a:solidFill>
                <a:latin typeface="Calibri"/>
              </a:rPr>
              <a:t>→ Dataset de Kerala — validar com dados brasileiros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1847088"/>
            <a:ext cx="4069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DDDDD"/>
                </a:solidFill>
                <a:latin typeface="Calibri"/>
              </a:rPr>
              <a:t>→ 541 amostras é pequeno para deep learning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340864"/>
            <a:ext cx="4069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DDDDD"/>
                </a:solidFill>
                <a:latin typeface="Calibri"/>
              </a:rPr>
              <a:t>→ Threshold padrão de 0.5 — ajustar para priorizar recall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2834640"/>
            <a:ext cx="4069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DDDDD"/>
                </a:solidFill>
                <a:latin typeface="Calibri"/>
              </a:rPr>
              <a:t>→ Ausência de validação prospectiva em cenário real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3328416"/>
            <a:ext cx="4069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DDDDD"/>
                </a:solidFill>
                <a:latin typeface="Calibri"/>
              </a:rPr>
              <a:t>→ Próx.: XGBoost, threshold tuning, mais dados, API REST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663440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D80A0"/>
                </a:solidFill>
                <a:latin typeface="Calibri"/>
              </a:rPr>
              <a:t>FIAP POSTECH — IA para Devs  |  Tech Challenge Fase 1  |  Matheus Tomaz  |  Maio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